
<file path=[Content_Types].xml><?xml version="1.0" encoding="utf-8"?>
<Types xmlns="http://schemas.openxmlformats.org/package/2006/content-types">
  <Default Extension="fntdata" ContentType="application/x-fontdata"/>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8"/>
  </p:notesMasterIdLst>
  <p:sldIdLst>
    <p:sldId id="256" r:id="rId2"/>
    <p:sldId id="257" r:id="rId3"/>
    <p:sldId id="259" r:id="rId4"/>
    <p:sldId id="260" r:id="rId5"/>
    <p:sldId id="261" r:id="rId6"/>
    <p:sldId id="262" r:id="rId7"/>
  </p:sldIdLst>
  <p:sldSz cx="9144000" cy="5143500" type="screen16x9"/>
  <p:notesSz cx="6858000" cy="9144000"/>
  <p:embeddedFontLst>
    <p:embeddedFont>
      <p:font typeface="Roboto" panose="02000000000000000000" pitchFamily="2" charset="0"/>
      <p:regular r:id="rId9"/>
      <p:bold r:id="rId10"/>
      <p:italic r:id="rId11"/>
      <p:boldItalic r:id="rId12"/>
    </p:embeddedFont>
    <p:embeddedFont>
      <p:font typeface="Roboto Slab" pitchFamily="2" charset="0"/>
      <p:regular r:id="rId13"/>
      <p:bold r:id="rId1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E584E98-F22C-4E6F-8C55-6CFEC2229C57}">
  <a:tblStyle styleId="{2E584E98-F22C-4E6F-8C55-6CFEC2229C57}"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81408"/>
  </p:normalViewPr>
  <p:slideViewPr>
    <p:cSldViewPr snapToGrid="0">
      <p:cViewPr varScale="1">
        <p:scale>
          <a:sx n="132" d="100"/>
          <a:sy n="132" d="100"/>
        </p:scale>
        <p:origin x="944" y="17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font" Target="fonts/font1.fntdata"/><Relationship Id="rId10" Type="http://schemas.openxmlformats.org/officeDocument/2006/relationships/font" Target="fonts/font2.fntdata"/><Relationship Id="rId11" Type="http://schemas.openxmlformats.org/officeDocument/2006/relationships/font" Target="fonts/font3.fntdata"/><Relationship Id="rId12" Type="http://schemas.openxmlformats.org/officeDocument/2006/relationships/font" Target="fonts/font4.fntdata"/><Relationship Id="rId13" Type="http://schemas.openxmlformats.org/officeDocument/2006/relationships/font" Target="fonts/font5.fntdata"/><Relationship Id="rId14" Type="http://schemas.openxmlformats.org/officeDocument/2006/relationships/font" Target="fonts/font6.fntdata"/><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 name="Google Shape;61;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g3516fb96bfd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 name="Google Shape;67;g3516fb96bfd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buNone/>
            </a:pPr>
            <a:r>
              <a:rPr lang="en-GB" b="1" dirty="0"/>
              <a:t>Prompts to try:</a:t>
            </a:r>
            <a:endParaRPr lang="en-GB" dirty="0"/>
          </a:p>
          <a:p>
            <a:pPr>
              <a:buFont typeface="Arial" panose="020B0604020202020204" pitchFamily="34" charset="0"/>
              <a:buChar char="•"/>
            </a:pPr>
            <a:r>
              <a:rPr lang="en-GB" dirty="0"/>
              <a:t>Generate a simple outline for an AI collections system workflow, including inputs, decision logic, action triggers, and learning loop.</a:t>
            </a:r>
          </a:p>
          <a:p>
            <a:pPr>
              <a:buFont typeface="Arial" panose="020B0604020202020204" pitchFamily="34" charset="0"/>
              <a:buChar char="•"/>
            </a:pPr>
            <a:r>
              <a:rPr lang="en-GB" dirty="0"/>
              <a:t>List 3–5 key customer attributes that would be most predictive for collections decision-making, and explain why each one matters.</a:t>
            </a:r>
          </a:p>
          <a:p>
            <a:pPr>
              <a:buFont typeface="Arial" panose="020B0604020202020204" pitchFamily="34" charset="0"/>
              <a:buChar char="•"/>
            </a:pPr>
            <a:r>
              <a:rPr lang="en-GB" dirty="0"/>
              <a:t>Suggest examples of business rules and AI-driven actions the system could use at different risk levels (e.g., low, medium, high risk).</a:t>
            </a:r>
          </a:p>
          <a:p>
            <a:pPr>
              <a:buFont typeface="Arial" panose="020B0604020202020204" pitchFamily="34" charset="0"/>
              <a:buChar char="•"/>
            </a:pPr>
            <a:r>
              <a:rPr lang="en-GB" dirty="0"/>
              <a:t>Create a rough sketch or step-by-step description of how customer data flows through the system from intake to action.</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
        <p:cNvGrpSpPr/>
        <p:nvPr/>
      </p:nvGrpSpPr>
      <p:grpSpPr>
        <a:xfrm>
          <a:off x="0" y="0"/>
          <a:ext cx="0" cy="0"/>
          <a:chOff x="0" y="0"/>
          <a:chExt cx="0" cy="0"/>
        </a:xfrm>
      </p:grpSpPr>
      <p:sp>
        <p:nvSpPr>
          <p:cNvPr id="78" name="Google Shape;78;g3516fb96bfd_0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 name="Google Shape;79;g3516fb96bfd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buNone/>
            </a:pPr>
            <a:r>
              <a:rPr lang="en-GB" b="1" dirty="0"/>
              <a:t>Prompts to try:</a:t>
            </a:r>
            <a:endParaRPr lang="en-GB" dirty="0"/>
          </a:p>
          <a:p>
            <a:pPr>
              <a:buFont typeface="Arial" panose="020B0604020202020204" pitchFamily="34" charset="0"/>
              <a:buChar char="•"/>
            </a:pPr>
            <a:r>
              <a:rPr lang="en-GB" dirty="0"/>
              <a:t>Explain how agentic AI could automate financial collections while keeping humans in critical decision points.</a:t>
            </a:r>
          </a:p>
          <a:p>
            <a:pPr>
              <a:buFont typeface="Arial" panose="020B0604020202020204" pitchFamily="34" charset="0"/>
              <a:buChar char="•"/>
            </a:pPr>
            <a:r>
              <a:rPr lang="en-GB" dirty="0"/>
              <a:t>List 3–5 examples of collection actions, and classify each as best suited for full automation or requiring human oversight, with a brief reason why.</a:t>
            </a:r>
          </a:p>
          <a:p>
            <a:pPr marL="0" lvl="0" indent="0" algn="l" rtl="0">
              <a:spcBef>
                <a:spcPts val="0"/>
              </a:spcBef>
              <a:spcAft>
                <a:spcPts val="0"/>
              </a:spcAft>
              <a:buNone/>
            </a:pP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3516fb96bfd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 name="Google Shape;86;g3516fb96bfd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buNone/>
            </a:pPr>
            <a:r>
              <a:rPr lang="en-GB" b="1" dirty="0"/>
              <a:t>Prompts to try:</a:t>
            </a:r>
            <a:endParaRPr lang="en-GB" dirty="0"/>
          </a:p>
          <a:p>
            <a:pPr>
              <a:buFont typeface="Arial" panose="020B0604020202020204" pitchFamily="34" charset="0"/>
              <a:buChar char="•"/>
            </a:pPr>
            <a:r>
              <a:rPr lang="en-GB" dirty="0"/>
              <a:t>List key fairness, transparency, and compliance practices to build into an AI-powered credit collections system.</a:t>
            </a:r>
          </a:p>
          <a:p>
            <a:pPr>
              <a:buFont typeface="Arial" panose="020B0604020202020204" pitchFamily="34" charset="0"/>
              <a:buChar char="•"/>
            </a:pPr>
            <a:r>
              <a:rPr lang="en-GB" dirty="0"/>
              <a:t>Suggest specific ways to monitor and audit the system over time to ensure it stays fair, compliant, and effective.</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3516fb96bfd_0_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3516fb96bfd_0_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buNone/>
            </a:pPr>
            <a:r>
              <a:rPr lang="en-GB" b="1" dirty="0"/>
              <a:t>Prompts to try:</a:t>
            </a:r>
            <a:endParaRPr lang="en-GB" dirty="0"/>
          </a:p>
          <a:p>
            <a:pPr>
              <a:buFont typeface="Arial" panose="020B0604020202020204" pitchFamily="34" charset="0"/>
              <a:buChar char="•"/>
            </a:pPr>
            <a:r>
              <a:rPr lang="en-GB" dirty="0"/>
              <a:t>Suggest KPIs for an AI-powered collections strategy that balances business outcomes with customer fairness.</a:t>
            </a:r>
          </a:p>
          <a:p>
            <a:pPr>
              <a:buFont typeface="Arial" panose="020B0604020202020204" pitchFamily="34" charset="0"/>
              <a:buChar char="•"/>
            </a:pPr>
            <a:r>
              <a:rPr lang="en-GB" dirty="0"/>
              <a:t>Describe 2–3 ways an AI collections system could improve both operational efficiency and customer experience.</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p:nvPr/>
        </p:nvSpPr>
        <p:spPr>
          <a:xfrm>
            <a:off x="1524800" y="672606"/>
            <a:ext cx="1081625" cy="1124950"/>
          </a:xfrm>
          <a:custGeom>
            <a:avLst/>
            <a:gdLst/>
            <a:ahLst/>
            <a:cxnLst/>
            <a:rect l="l" t="t" r="r" b="b"/>
            <a:pathLst>
              <a:path w="43265" h="44998" extrusionOk="0">
                <a:moveTo>
                  <a:pt x="0" y="44998"/>
                </a:moveTo>
                <a:lnTo>
                  <a:pt x="0" y="0"/>
                </a:lnTo>
                <a:lnTo>
                  <a:pt x="43265" y="0"/>
                </a:lnTo>
              </a:path>
            </a:pathLst>
          </a:custGeom>
          <a:noFill/>
          <a:ln w="28575" cap="flat" cmpd="sng">
            <a:solidFill>
              <a:schemeClr val="accent5"/>
            </a:solidFill>
            <a:prstDash val="solid"/>
            <a:miter lim="8000"/>
            <a:headEnd type="none" w="sm" len="sm"/>
            <a:tailEnd type="none" w="sm" len="sm"/>
          </a:ln>
        </p:spPr>
      </p:sp>
      <p:sp>
        <p:nvSpPr>
          <p:cNvPr id="11" name="Google Shape;11;p2"/>
          <p:cNvSpPr/>
          <p:nvPr/>
        </p:nvSpPr>
        <p:spPr>
          <a:xfrm rot="10800000">
            <a:off x="6537563" y="3342925"/>
            <a:ext cx="1081625" cy="1124950"/>
          </a:xfrm>
          <a:custGeom>
            <a:avLst/>
            <a:gdLst/>
            <a:ahLst/>
            <a:cxnLst/>
            <a:rect l="l" t="t" r="r" b="b"/>
            <a:pathLst>
              <a:path w="43265" h="44998" extrusionOk="0">
                <a:moveTo>
                  <a:pt x="0" y="44998"/>
                </a:moveTo>
                <a:lnTo>
                  <a:pt x="0" y="0"/>
                </a:lnTo>
                <a:lnTo>
                  <a:pt x="43265" y="0"/>
                </a:lnTo>
              </a:path>
            </a:pathLst>
          </a:custGeom>
          <a:noFill/>
          <a:ln w="28575" cap="flat" cmpd="sng">
            <a:solidFill>
              <a:schemeClr val="accent5"/>
            </a:solidFill>
            <a:prstDash val="solid"/>
            <a:miter lim="8000"/>
            <a:headEnd type="none" w="sm" len="sm"/>
            <a:tailEnd type="none" w="sm" len="sm"/>
          </a:ln>
        </p:spPr>
      </p:sp>
      <p:cxnSp>
        <p:nvCxnSpPr>
          <p:cNvPr id="12" name="Google Shape;12;p2"/>
          <p:cNvCxnSpPr/>
          <p:nvPr/>
        </p:nvCxnSpPr>
        <p:spPr>
          <a:xfrm>
            <a:off x="4359602" y="2817464"/>
            <a:ext cx="424800" cy="0"/>
          </a:xfrm>
          <a:prstGeom prst="straightConnector1">
            <a:avLst/>
          </a:prstGeom>
          <a:noFill/>
          <a:ln w="38100" cap="flat" cmpd="sng">
            <a:solidFill>
              <a:schemeClr val="accent4"/>
            </a:solidFill>
            <a:prstDash val="solid"/>
            <a:round/>
            <a:headEnd type="none" w="sm" len="sm"/>
            <a:tailEnd type="none" w="sm" len="sm"/>
          </a:ln>
        </p:spPr>
      </p:cxnSp>
      <p:sp>
        <p:nvSpPr>
          <p:cNvPr id="13" name="Google Shape;13;p2"/>
          <p:cNvSpPr txBox="1">
            <a:spLocks noGrp="1"/>
          </p:cNvSpPr>
          <p:nvPr>
            <p:ph type="ctrTitle"/>
          </p:nvPr>
        </p:nvSpPr>
        <p:spPr>
          <a:xfrm>
            <a:off x="1680302" y="1188925"/>
            <a:ext cx="5783400" cy="1457400"/>
          </a:xfrm>
          <a:prstGeom prst="rect">
            <a:avLst/>
          </a:prstGeom>
        </p:spPr>
        <p:txBody>
          <a:bodyPr spcFirstLastPara="1" wrap="square" lIns="91425" tIns="91425" rIns="91425" bIns="91425" anchor="b" anchorCtr="0">
            <a:normAutofit/>
          </a:bodyPr>
          <a:lstStyle>
            <a:lvl1pPr lvl="0" algn="ctr">
              <a:spcBef>
                <a:spcPts val="0"/>
              </a:spcBef>
              <a:spcAft>
                <a:spcPts val="0"/>
              </a:spcAft>
              <a:buSzPts val="4000"/>
              <a:buNone/>
              <a:defRPr sz="4000"/>
            </a:lvl1pPr>
            <a:lvl2pPr lvl="1" algn="ctr">
              <a:spcBef>
                <a:spcPts val="0"/>
              </a:spcBef>
              <a:spcAft>
                <a:spcPts val="0"/>
              </a:spcAft>
              <a:buSzPts val="4000"/>
              <a:buNone/>
              <a:defRPr sz="4000"/>
            </a:lvl2pPr>
            <a:lvl3pPr lvl="2" algn="ctr">
              <a:spcBef>
                <a:spcPts val="0"/>
              </a:spcBef>
              <a:spcAft>
                <a:spcPts val="0"/>
              </a:spcAft>
              <a:buSzPts val="4000"/>
              <a:buNone/>
              <a:defRPr sz="4000"/>
            </a:lvl3pPr>
            <a:lvl4pPr lvl="3" algn="ctr">
              <a:spcBef>
                <a:spcPts val="0"/>
              </a:spcBef>
              <a:spcAft>
                <a:spcPts val="0"/>
              </a:spcAft>
              <a:buSzPts val="4000"/>
              <a:buNone/>
              <a:defRPr sz="4000"/>
            </a:lvl4pPr>
            <a:lvl5pPr lvl="4" algn="ctr">
              <a:spcBef>
                <a:spcPts val="0"/>
              </a:spcBef>
              <a:spcAft>
                <a:spcPts val="0"/>
              </a:spcAft>
              <a:buSzPts val="4000"/>
              <a:buNone/>
              <a:defRPr sz="4000"/>
            </a:lvl5pPr>
            <a:lvl6pPr lvl="5" algn="ctr">
              <a:spcBef>
                <a:spcPts val="0"/>
              </a:spcBef>
              <a:spcAft>
                <a:spcPts val="0"/>
              </a:spcAft>
              <a:buSzPts val="4000"/>
              <a:buNone/>
              <a:defRPr sz="4000"/>
            </a:lvl6pPr>
            <a:lvl7pPr lvl="6" algn="ctr">
              <a:spcBef>
                <a:spcPts val="0"/>
              </a:spcBef>
              <a:spcAft>
                <a:spcPts val="0"/>
              </a:spcAft>
              <a:buSzPts val="4000"/>
              <a:buNone/>
              <a:defRPr sz="4000"/>
            </a:lvl7pPr>
            <a:lvl8pPr lvl="7" algn="ctr">
              <a:spcBef>
                <a:spcPts val="0"/>
              </a:spcBef>
              <a:spcAft>
                <a:spcPts val="0"/>
              </a:spcAft>
              <a:buSzPts val="4000"/>
              <a:buNone/>
              <a:defRPr sz="4000"/>
            </a:lvl8pPr>
            <a:lvl9pPr lvl="8" algn="ctr">
              <a:spcBef>
                <a:spcPts val="0"/>
              </a:spcBef>
              <a:spcAft>
                <a:spcPts val="0"/>
              </a:spcAft>
              <a:buSzPts val="4000"/>
              <a:buNone/>
              <a:defRPr sz="4000"/>
            </a:lvl9pPr>
          </a:lstStyle>
          <a:p>
            <a:endParaRPr/>
          </a:p>
        </p:txBody>
      </p:sp>
      <p:sp>
        <p:nvSpPr>
          <p:cNvPr id="14" name="Google Shape;14;p2"/>
          <p:cNvSpPr txBox="1">
            <a:spLocks noGrp="1"/>
          </p:cNvSpPr>
          <p:nvPr>
            <p:ph type="subTitle" idx="1"/>
          </p:nvPr>
        </p:nvSpPr>
        <p:spPr>
          <a:xfrm>
            <a:off x="1680302" y="3049450"/>
            <a:ext cx="5783400" cy="9090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1pPr>
            <a:lvl2pPr lvl="1"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2pPr>
            <a:lvl3pPr lvl="2"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3pPr>
            <a:lvl4pPr lvl="3"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4pPr>
            <a:lvl5pPr lvl="4"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5pPr>
            <a:lvl6pPr lvl="5"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6pPr>
            <a:lvl7pPr lvl="6"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7pPr>
            <a:lvl8pPr lvl="7"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8pPr>
            <a:lvl9pPr lvl="8"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9pPr>
          </a:lstStyle>
          <a:p>
            <a:endParaRPr/>
          </a:p>
        </p:txBody>
      </p:sp>
      <p:sp>
        <p:nvSpPr>
          <p:cNvPr id="15" name="Google Shape;15;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6"/>
        <p:cNvGrpSpPr/>
        <p:nvPr/>
      </p:nvGrpSpPr>
      <p:grpSpPr>
        <a:xfrm>
          <a:off x="0" y="0"/>
          <a:ext cx="0" cy="0"/>
          <a:chOff x="0" y="0"/>
          <a:chExt cx="0" cy="0"/>
        </a:xfrm>
      </p:grpSpPr>
      <p:cxnSp>
        <p:nvCxnSpPr>
          <p:cNvPr id="17" name="Google Shape;17;p3"/>
          <p:cNvCxnSpPr/>
          <p:nvPr/>
        </p:nvCxnSpPr>
        <p:spPr>
          <a:xfrm>
            <a:off x="4359602" y="2817464"/>
            <a:ext cx="424800" cy="0"/>
          </a:xfrm>
          <a:prstGeom prst="straightConnector1">
            <a:avLst/>
          </a:prstGeom>
          <a:noFill/>
          <a:ln w="38100" cap="flat" cmpd="sng">
            <a:solidFill>
              <a:schemeClr val="accent4"/>
            </a:solidFill>
            <a:prstDash val="solid"/>
            <a:round/>
            <a:headEnd type="none" w="sm" len="sm"/>
            <a:tailEnd type="none" w="sm" len="sm"/>
          </a:ln>
        </p:spPr>
      </p:cxnSp>
      <p:sp>
        <p:nvSpPr>
          <p:cNvPr id="18" name="Google Shape;18;p3"/>
          <p:cNvSpPr txBox="1">
            <a:spLocks noGrp="1"/>
          </p:cNvSpPr>
          <p:nvPr>
            <p:ph type="title"/>
          </p:nvPr>
        </p:nvSpPr>
        <p:spPr>
          <a:xfrm>
            <a:off x="480750" y="1764950"/>
            <a:ext cx="8222100" cy="907500"/>
          </a:xfrm>
          <a:prstGeom prst="rect">
            <a:avLst/>
          </a:prstGeom>
        </p:spPr>
        <p:txBody>
          <a:bodyPr spcFirstLastPara="1" wrap="square" lIns="91425" tIns="91425" rIns="91425" bIns="91425" anchor="b" anchorCtr="0">
            <a:norm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a:endParaRPr/>
          </a:p>
        </p:txBody>
      </p:sp>
      <p:sp>
        <p:nvSpPr>
          <p:cNvPr id="19" name="Google Shape;19;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0"/>
        <p:cNvGrpSpPr/>
        <p:nvPr/>
      </p:nvGrpSpPr>
      <p:grpSpPr>
        <a:xfrm>
          <a:off x="0" y="0"/>
          <a:ext cx="0" cy="0"/>
          <a:chOff x="0" y="0"/>
          <a:chExt cx="0" cy="0"/>
        </a:xfrm>
      </p:grpSpPr>
      <p:cxnSp>
        <p:nvCxnSpPr>
          <p:cNvPr id="21" name="Google Shape;21;p4"/>
          <p:cNvCxnSpPr/>
          <p:nvPr/>
        </p:nvCxnSpPr>
        <p:spPr>
          <a:xfrm>
            <a:off x="492563" y="1260284"/>
            <a:ext cx="424800" cy="0"/>
          </a:xfrm>
          <a:prstGeom prst="straightConnector1">
            <a:avLst/>
          </a:prstGeom>
          <a:noFill/>
          <a:ln w="38100" cap="flat" cmpd="sng">
            <a:solidFill>
              <a:schemeClr val="accent4"/>
            </a:solidFill>
            <a:prstDash val="solid"/>
            <a:round/>
            <a:headEnd type="none" w="sm" len="sm"/>
            <a:tailEnd type="none" w="sm" len="sm"/>
          </a:ln>
        </p:spPr>
      </p:cxnSp>
      <p:sp>
        <p:nvSpPr>
          <p:cNvPr id="22" name="Google Shape;22;p4"/>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23" name="Google Shape;23;p4"/>
          <p:cNvSpPr txBox="1">
            <a:spLocks noGrp="1"/>
          </p:cNvSpPr>
          <p:nvPr>
            <p:ph type="body" idx="1"/>
          </p:nvPr>
        </p:nvSpPr>
        <p:spPr>
          <a:xfrm>
            <a:off x="387900" y="1489824"/>
            <a:ext cx="8368200" cy="30789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24" name="Google Shape;24;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5"/>
        <p:cNvGrpSpPr/>
        <p:nvPr/>
      </p:nvGrpSpPr>
      <p:grpSpPr>
        <a:xfrm>
          <a:off x="0" y="0"/>
          <a:ext cx="0" cy="0"/>
          <a:chOff x="0" y="0"/>
          <a:chExt cx="0" cy="0"/>
        </a:xfrm>
      </p:grpSpPr>
      <p:cxnSp>
        <p:nvCxnSpPr>
          <p:cNvPr id="26" name="Google Shape;26;p5"/>
          <p:cNvCxnSpPr/>
          <p:nvPr/>
        </p:nvCxnSpPr>
        <p:spPr>
          <a:xfrm>
            <a:off x="492563" y="1260284"/>
            <a:ext cx="424800" cy="0"/>
          </a:xfrm>
          <a:prstGeom prst="straightConnector1">
            <a:avLst/>
          </a:prstGeom>
          <a:noFill/>
          <a:ln w="38100" cap="flat" cmpd="sng">
            <a:solidFill>
              <a:schemeClr val="accent4"/>
            </a:solidFill>
            <a:prstDash val="solid"/>
            <a:round/>
            <a:headEnd type="none" w="sm" len="sm"/>
            <a:tailEnd type="none" w="sm" len="sm"/>
          </a:ln>
        </p:spPr>
      </p:cxnSp>
      <p:sp>
        <p:nvSpPr>
          <p:cNvPr id="27" name="Google Shape;27;p5"/>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28" name="Google Shape;28;p5"/>
          <p:cNvSpPr txBox="1">
            <a:spLocks noGrp="1"/>
          </p:cNvSpPr>
          <p:nvPr>
            <p:ph type="body" idx="1"/>
          </p:nvPr>
        </p:nvSpPr>
        <p:spPr>
          <a:xfrm>
            <a:off x="387900" y="1489825"/>
            <a:ext cx="3999900" cy="30789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9" name="Google Shape;29;p5"/>
          <p:cNvSpPr txBox="1">
            <a:spLocks noGrp="1"/>
          </p:cNvSpPr>
          <p:nvPr>
            <p:ph type="body" idx="2"/>
          </p:nvPr>
        </p:nvSpPr>
        <p:spPr>
          <a:xfrm>
            <a:off x="4756200" y="1489825"/>
            <a:ext cx="3999900" cy="30789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0" name="Google Shape;30;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1"/>
        <p:cNvGrpSpPr/>
        <p:nvPr/>
      </p:nvGrpSpPr>
      <p:grpSpPr>
        <a:xfrm>
          <a:off x="0" y="0"/>
          <a:ext cx="0" cy="0"/>
          <a:chOff x="0" y="0"/>
          <a:chExt cx="0" cy="0"/>
        </a:xfrm>
      </p:grpSpPr>
      <p:sp>
        <p:nvSpPr>
          <p:cNvPr id="32" name="Google Shape;32;p6"/>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33" name="Google Shape;33;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4"/>
        <p:cNvGrpSpPr/>
        <p:nvPr/>
      </p:nvGrpSpPr>
      <p:grpSpPr>
        <a:xfrm>
          <a:off x="0" y="0"/>
          <a:ext cx="0" cy="0"/>
          <a:chOff x="0" y="0"/>
          <a:chExt cx="0" cy="0"/>
        </a:xfrm>
      </p:grpSpPr>
      <p:cxnSp>
        <p:nvCxnSpPr>
          <p:cNvPr id="35" name="Google Shape;35;p7"/>
          <p:cNvCxnSpPr/>
          <p:nvPr/>
        </p:nvCxnSpPr>
        <p:spPr>
          <a:xfrm>
            <a:off x="489218" y="1412277"/>
            <a:ext cx="331500" cy="0"/>
          </a:xfrm>
          <a:prstGeom prst="straightConnector1">
            <a:avLst/>
          </a:prstGeom>
          <a:noFill/>
          <a:ln w="38100" cap="flat" cmpd="sng">
            <a:solidFill>
              <a:schemeClr val="accent4"/>
            </a:solidFill>
            <a:prstDash val="solid"/>
            <a:round/>
            <a:headEnd type="none" w="sm" len="sm"/>
            <a:tailEnd type="none" w="sm" len="sm"/>
          </a:ln>
        </p:spPr>
      </p:cxnSp>
      <p:sp>
        <p:nvSpPr>
          <p:cNvPr id="36" name="Google Shape;36;p7"/>
          <p:cNvSpPr txBox="1">
            <a:spLocks noGrp="1"/>
          </p:cNvSpPr>
          <p:nvPr>
            <p:ph type="title"/>
          </p:nvPr>
        </p:nvSpPr>
        <p:spPr>
          <a:xfrm>
            <a:off x="3879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7" name="Google Shape;37;p7"/>
          <p:cNvSpPr txBox="1">
            <a:spLocks noGrp="1"/>
          </p:cNvSpPr>
          <p:nvPr>
            <p:ph type="body" idx="1"/>
          </p:nvPr>
        </p:nvSpPr>
        <p:spPr>
          <a:xfrm>
            <a:off x="387900" y="1594025"/>
            <a:ext cx="2808000" cy="26811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8" name="Google Shape;38;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9"/>
        <p:cNvGrpSpPr/>
        <p:nvPr/>
      </p:nvGrpSpPr>
      <p:grpSpPr>
        <a:xfrm>
          <a:off x="0" y="0"/>
          <a:ext cx="0" cy="0"/>
          <a:chOff x="0" y="0"/>
          <a:chExt cx="0" cy="0"/>
        </a:xfrm>
      </p:grpSpPr>
      <p:sp>
        <p:nvSpPr>
          <p:cNvPr id="40" name="Google Shape;40;p8"/>
          <p:cNvSpPr txBox="1">
            <a:spLocks noGrp="1"/>
          </p:cNvSpPr>
          <p:nvPr>
            <p:ph type="title"/>
          </p:nvPr>
        </p:nvSpPr>
        <p:spPr>
          <a:xfrm>
            <a:off x="490250" y="526350"/>
            <a:ext cx="56187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41" name="Google Shape;41;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2"/>
        <p:cNvGrpSpPr/>
        <p:nvPr/>
      </p:nvGrpSpPr>
      <p:grpSpPr>
        <a:xfrm>
          <a:off x="0" y="0"/>
          <a:ext cx="0" cy="0"/>
          <a:chOff x="0" y="0"/>
          <a:chExt cx="0" cy="0"/>
        </a:xfrm>
      </p:grpSpPr>
      <p:sp>
        <p:nvSpPr>
          <p:cNvPr id="43" name="Google Shape;43;p9"/>
          <p:cNvSpPr/>
          <p:nvPr/>
        </p:nvSpPr>
        <p:spPr>
          <a:xfrm>
            <a:off x="4572000" y="-75"/>
            <a:ext cx="45720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4" name="Google Shape;44;p9"/>
          <p:cNvCxnSpPr/>
          <p:nvPr/>
        </p:nvCxnSpPr>
        <p:spPr>
          <a:xfrm>
            <a:off x="5029675" y="4495503"/>
            <a:ext cx="540900" cy="0"/>
          </a:xfrm>
          <a:prstGeom prst="straightConnector1">
            <a:avLst/>
          </a:prstGeom>
          <a:noFill/>
          <a:ln w="38100" cap="flat" cmpd="sng">
            <a:solidFill>
              <a:schemeClr val="accent5"/>
            </a:solidFill>
            <a:prstDash val="solid"/>
            <a:round/>
            <a:headEnd type="none" w="sm" len="sm"/>
            <a:tailEnd type="none" w="sm" len="sm"/>
          </a:ln>
        </p:spPr>
      </p:cxnSp>
      <p:sp>
        <p:nvSpPr>
          <p:cNvPr id="45" name="Google Shape;45;p9"/>
          <p:cNvSpPr txBox="1">
            <a:spLocks noGrp="1"/>
          </p:cNvSpPr>
          <p:nvPr>
            <p:ph type="title"/>
          </p:nvPr>
        </p:nvSpPr>
        <p:spPr>
          <a:xfrm>
            <a:off x="265500" y="1209075"/>
            <a:ext cx="4045200" cy="1506300"/>
          </a:xfrm>
          <a:prstGeom prst="rect">
            <a:avLst/>
          </a:prstGeom>
        </p:spPr>
        <p:txBody>
          <a:bodyPr spcFirstLastPara="1" wrap="square" lIns="91425" tIns="91425" rIns="91425" bIns="91425" anchor="b" anchorCtr="0">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a:endParaRPr/>
          </a:p>
        </p:txBody>
      </p:sp>
      <p:sp>
        <p:nvSpPr>
          <p:cNvPr id="46" name="Google Shape;46;p9"/>
          <p:cNvSpPr txBox="1">
            <a:spLocks noGrp="1"/>
          </p:cNvSpPr>
          <p:nvPr>
            <p:ph type="subTitle" idx="1"/>
          </p:nvPr>
        </p:nvSpPr>
        <p:spPr>
          <a:xfrm>
            <a:off x="265500" y="2769001"/>
            <a:ext cx="4045200" cy="13455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Clr>
                <a:schemeClr val="accent5"/>
              </a:buClr>
              <a:buSzPts val="2100"/>
              <a:buNone/>
              <a:defRPr sz="2100">
                <a:solidFill>
                  <a:schemeClr val="accent5"/>
                </a:solidFill>
              </a:defRPr>
            </a:lvl1pPr>
            <a:lvl2pPr lvl="1" algn="ctr">
              <a:lnSpc>
                <a:spcPct val="100000"/>
              </a:lnSpc>
              <a:spcBef>
                <a:spcPts val="0"/>
              </a:spcBef>
              <a:spcAft>
                <a:spcPts val="0"/>
              </a:spcAft>
              <a:buClr>
                <a:schemeClr val="accent5"/>
              </a:buClr>
              <a:buSzPts val="2100"/>
              <a:buNone/>
              <a:defRPr sz="2100">
                <a:solidFill>
                  <a:schemeClr val="accent5"/>
                </a:solidFill>
              </a:defRPr>
            </a:lvl2pPr>
            <a:lvl3pPr lvl="2" algn="ctr">
              <a:lnSpc>
                <a:spcPct val="100000"/>
              </a:lnSpc>
              <a:spcBef>
                <a:spcPts val="0"/>
              </a:spcBef>
              <a:spcAft>
                <a:spcPts val="0"/>
              </a:spcAft>
              <a:buClr>
                <a:schemeClr val="accent5"/>
              </a:buClr>
              <a:buSzPts val="2100"/>
              <a:buNone/>
              <a:defRPr sz="2100">
                <a:solidFill>
                  <a:schemeClr val="accent5"/>
                </a:solidFill>
              </a:defRPr>
            </a:lvl3pPr>
            <a:lvl4pPr lvl="3" algn="ctr">
              <a:lnSpc>
                <a:spcPct val="100000"/>
              </a:lnSpc>
              <a:spcBef>
                <a:spcPts val="0"/>
              </a:spcBef>
              <a:spcAft>
                <a:spcPts val="0"/>
              </a:spcAft>
              <a:buClr>
                <a:schemeClr val="accent5"/>
              </a:buClr>
              <a:buSzPts val="2100"/>
              <a:buNone/>
              <a:defRPr sz="2100">
                <a:solidFill>
                  <a:schemeClr val="accent5"/>
                </a:solidFill>
              </a:defRPr>
            </a:lvl4pPr>
            <a:lvl5pPr lvl="4" algn="ctr">
              <a:lnSpc>
                <a:spcPct val="100000"/>
              </a:lnSpc>
              <a:spcBef>
                <a:spcPts val="0"/>
              </a:spcBef>
              <a:spcAft>
                <a:spcPts val="0"/>
              </a:spcAft>
              <a:buClr>
                <a:schemeClr val="accent5"/>
              </a:buClr>
              <a:buSzPts val="2100"/>
              <a:buNone/>
              <a:defRPr sz="2100">
                <a:solidFill>
                  <a:schemeClr val="accent5"/>
                </a:solidFill>
              </a:defRPr>
            </a:lvl5pPr>
            <a:lvl6pPr lvl="5" algn="ctr">
              <a:lnSpc>
                <a:spcPct val="100000"/>
              </a:lnSpc>
              <a:spcBef>
                <a:spcPts val="0"/>
              </a:spcBef>
              <a:spcAft>
                <a:spcPts val="0"/>
              </a:spcAft>
              <a:buClr>
                <a:schemeClr val="accent5"/>
              </a:buClr>
              <a:buSzPts val="2100"/>
              <a:buNone/>
              <a:defRPr sz="2100">
                <a:solidFill>
                  <a:schemeClr val="accent5"/>
                </a:solidFill>
              </a:defRPr>
            </a:lvl6pPr>
            <a:lvl7pPr lvl="6" algn="ctr">
              <a:lnSpc>
                <a:spcPct val="100000"/>
              </a:lnSpc>
              <a:spcBef>
                <a:spcPts val="0"/>
              </a:spcBef>
              <a:spcAft>
                <a:spcPts val="0"/>
              </a:spcAft>
              <a:buClr>
                <a:schemeClr val="accent5"/>
              </a:buClr>
              <a:buSzPts val="2100"/>
              <a:buNone/>
              <a:defRPr sz="2100">
                <a:solidFill>
                  <a:schemeClr val="accent5"/>
                </a:solidFill>
              </a:defRPr>
            </a:lvl7pPr>
            <a:lvl8pPr lvl="7" algn="ctr">
              <a:lnSpc>
                <a:spcPct val="100000"/>
              </a:lnSpc>
              <a:spcBef>
                <a:spcPts val="0"/>
              </a:spcBef>
              <a:spcAft>
                <a:spcPts val="0"/>
              </a:spcAft>
              <a:buClr>
                <a:schemeClr val="accent5"/>
              </a:buClr>
              <a:buSzPts val="2100"/>
              <a:buNone/>
              <a:defRPr sz="2100">
                <a:solidFill>
                  <a:schemeClr val="accent5"/>
                </a:solidFill>
              </a:defRPr>
            </a:lvl8pPr>
            <a:lvl9pPr lvl="8" algn="ctr">
              <a:lnSpc>
                <a:spcPct val="100000"/>
              </a:lnSpc>
              <a:spcBef>
                <a:spcPts val="0"/>
              </a:spcBef>
              <a:spcAft>
                <a:spcPts val="0"/>
              </a:spcAft>
              <a:buClr>
                <a:schemeClr val="accent5"/>
              </a:buClr>
              <a:buSzPts val="2100"/>
              <a:buNone/>
              <a:defRPr sz="2100">
                <a:solidFill>
                  <a:schemeClr val="accent5"/>
                </a:solidFill>
              </a:defRPr>
            </a:lvl9pPr>
          </a:lstStyle>
          <a:p>
            <a:endParaRPr/>
          </a:p>
        </p:txBody>
      </p:sp>
      <p:sp>
        <p:nvSpPr>
          <p:cNvPr id="47" name="Google Shape;47;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8" name="Google Shape;48;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9"/>
        <p:cNvGrpSpPr/>
        <p:nvPr/>
      </p:nvGrpSpPr>
      <p:grpSpPr>
        <a:xfrm>
          <a:off x="0" y="0"/>
          <a:ext cx="0" cy="0"/>
          <a:chOff x="0" y="0"/>
          <a:chExt cx="0" cy="0"/>
        </a:xfrm>
      </p:grpSpPr>
      <p:sp>
        <p:nvSpPr>
          <p:cNvPr id="50" name="Google Shape;50;p10"/>
          <p:cNvSpPr txBox="1">
            <a:spLocks noGrp="1"/>
          </p:cNvSpPr>
          <p:nvPr>
            <p:ph type="body" idx="1"/>
          </p:nvPr>
        </p:nvSpPr>
        <p:spPr>
          <a:xfrm>
            <a:off x="319500" y="4233725"/>
            <a:ext cx="5998800" cy="5988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Font typeface="Roboto Slab"/>
              <a:buNone/>
              <a:defRPr>
                <a:latin typeface="Roboto Slab"/>
                <a:ea typeface="Roboto Slab"/>
                <a:cs typeface="Roboto Slab"/>
                <a:sym typeface="Roboto Slab"/>
              </a:defRPr>
            </a:lvl1pPr>
          </a:lstStyle>
          <a:p>
            <a:endParaRPr/>
          </a:p>
        </p:txBody>
      </p:sp>
      <p:sp>
        <p:nvSpPr>
          <p:cNvPr id="51" name="Google Shape;51;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2"/>
        <p:cNvGrpSpPr/>
        <p:nvPr/>
      </p:nvGrpSpPr>
      <p:grpSpPr>
        <a:xfrm>
          <a:off x="0" y="0"/>
          <a:ext cx="0" cy="0"/>
          <a:chOff x="0" y="0"/>
          <a:chExt cx="0" cy="0"/>
        </a:xfrm>
      </p:grpSpPr>
      <p:sp>
        <p:nvSpPr>
          <p:cNvPr id="53" name="Google Shape;53;p11"/>
          <p:cNvSpPr/>
          <p:nvPr/>
        </p:nvSpPr>
        <p:spPr>
          <a:xfrm>
            <a:off x="150" y="5076825"/>
            <a:ext cx="9143700" cy="666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11"/>
          <p:cNvSpPr txBox="1">
            <a:spLocks noGrp="1"/>
          </p:cNvSpPr>
          <p:nvPr>
            <p:ph type="title" hasCustomPrompt="1"/>
          </p:nvPr>
        </p:nvSpPr>
        <p:spPr>
          <a:xfrm>
            <a:off x="387900" y="1152450"/>
            <a:ext cx="8368200" cy="1538400"/>
          </a:xfrm>
          <a:prstGeom prst="rect">
            <a:avLst/>
          </a:prstGeom>
        </p:spPr>
        <p:txBody>
          <a:bodyPr spcFirstLastPara="1" wrap="square" lIns="91425" tIns="91425" rIns="91425" bIns="91425" anchor="ctr" anchorCtr="0">
            <a:normAutofit/>
          </a:bodyPr>
          <a:lstStyle>
            <a:lvl1pPr lvl="0" algn="ctr">
              <a:spcBef>
                <a:spcPts val="0"/>
              </a:spcBef>
              <a:spcAft>
                <a:spcPts val="0"/>
              </a:spcAft>
              <a:buClr>
                <a:schemeClr val="accent5"/>
              </a:buClr>
              <a:buSzPts val="13000"/>
              <a:buNone/>
              <a:defRPr sz="13000">
                <a:solidFill>
                  <a:schemeClr val="accent5"/>
                </a:solidFill>
              </a:defRPr>
            </a:lvl1pPr>
            <a:lvl2pPr lvl="1" algn="ctr">
              <a:spcBef>
                <a:spcPts val="0"/>
              </a:spcBef>
              <a:spcAft>
                <a:spcPts val="0"/>
              </a:spcAft>
              <a:buClr>
                <a:schemeClr val="accent5"/>
              </a:buClr>
              <a:buSzPts val="13000"/>
              <a:buNone/>
              <a:defRPr sz="13000">
                <a:solidFill>
                  <a:schemeClr val="accent5"/>
                </a:solidFill>
              </a:defRPr>
            </a:lvl2pPr>
            <a:lvl3pPr lvl="2" algn="ctr">
              <a:spcBef>
                <a:spcPts val="0"/>
              </a:spcBef>
              <a:spcAft>
                <a:spcPts val="0"/>
              </a:spcAft>
              <a:buClr>
                <a:schemeClr val="accent5"/>
              </a:buClr>
              <a:buSzPts val="13000"/>
              <a:buNone/>
              <a:defRPr sz="13000">
                <a:solidFill>
                  <a:schemeClr val="accent5"/>
                </a:solidFill>
              </a:defRPr>
            </a:lvl3pPr>
            <a:lvl4pPr lvl="3" algn="ctr">
              <a:spcBef>
                <a:spcPts val="0"/>
              </a:spcBef>
              <a:spcAft>
                <a:spcPts val="0"/>
              </a:spcAft>
              <a:buClr>
                <a:schemeClr val="accent5"/>
              </a:buClr>
              <a:buSzPts val="13000"/>
              <a:buNone/>
              <a:defRPr sz="13000">
                <a:solidFill>
                  <a:schemeClr val="accent5"/>
                </a:solidFill>
              </a:defRPr>
            </a:lvl4pPr>
            <a:lvl5pPr lvl="4" algn="ctr">
              <a:spcBef>
                <a:spcPts val="0"/>
              </a:spcBef>
              <a:spcAft>
                <a:spcPts val="0"/>
              </a:spcAft>
              <a:buClr>
                <a:schemeClr val="accent5"/>
              </a:buClr>
              <a:buSzPts val="13000"/>
              <a:buNone/>
              <a:defRPr sz="13000">
                <a:solidFill>
                  <a:schemeClr val="accent5"/>
                </a:solidFill>
              </a:defRPr>
            </a:lvl5pPr>
            <a:lvl6pPr lvl="5" algn="ctr">
              <a:spcBef>
                <a:spcPts val="0"/>
              </a:spcBef>
              <a:spcAft>
                <a:spcPts val="0"/>
              </a:spcAft>
              <a:buClr>
                <a:schemeClr val="accent5"/>
              </a:buClr>
              <a:buSzPts val="13000"/>
              <a:buNone/>
              <a:defRPr sz="13000">
                <a:solidFill>
                  <a:schemeClr val="accent5"/>
                </a:solidFill>
              </a:defRPr>
            </a:lvl6pPr>
            <a:lvl7pPr lvl="6" algn="ctr">
              <a:spcBef>
                <a:spcPts val="0"/>
              </a:spcBef>
              <a:spcAft>
                <a:spcPts val="0"/>
              </a:spcAft>
              <a:buClr>
                <a:schemeClr val="accent5"/>
              </a:buClr>
              <a:buSzPts val="13000"/>
              <a:buNone/>
              <a:defRPr sz="13000">
                <a:solidFill>
                  <a:schemeClr val="accent5"/>
                </a:solidFill>
              </a:defRPr>
            </a:lvl7pPr>
            <a:lvl8pPr lvl="7" algn="ctr">
              <a:spcBef>
                <a:spcPts val="0"/>
              </a:spcBef>
              <a:spcAft>
                <a:spcPts val="0"/>
              </a:spcAft>
              <a:buClr>
                <a:schemeClr val="accent5"/>
              </a:buClr>
              <a:buSzPts val="13000"/>
              <a:buNone/>
              <a:defRPr sz="13000">
                <a:solidFill>
                  <a:schemeClr val="accent5"/>
                </a:solidFill>
              </a:defRPr>
            </a:lvl8pPr>
            <a:lvl9pPr lvl="8" algn="ctr">
              <a:spcBef>
                <a:spcPts val="0"/>
              </a:spcBef>
              <a:spcAft>
                <a:spcPts val="0"/>
              </a:spcAft>
              <a:buClr>
                <a:schemeClr val="accent5"/>
              </a:buClr>
              <a:buSzPts val="13000"/>
              <a:buNone/>
              <a:defRPr sz="13000">
                <a:solidFill>
                  <a:schemeClr val="accent5"/>
                </a:solidFill>
              </a:defRPr>
            </a:lvl9pPr>
          </a:lstStyle>
          <a:p>
            <a:r>
              <a:t>xx%</a:t>
            </a:r>
          </a:p>
        </p:txBody>
      </p:sp>
      <p:sp>
        <p:nvSpPr>
          <p:cNvPr id="55" name="Google Shape;55;p11"/>
          <p:cNvSpPr txBox="1">
            <a:spLocks noGrp="1"/>
          </p:cNvSpPr>
          <p:nvPr>
            <p:ph type="body" idx="1"/>
          </p:nvPr>
        </p:nvSpPr>
        <p:spPr>
          <a:xfrm>
            <a:off x="387900" y="2919450"/>
            <a:ext cx="8368200" cy="10716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56" name="Google Shape;56;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7"/>
        <p:cNvGrpSpPr/>
        <p:nvPr/>
      </p:nvGrpSpPr>
      <p:grpSpPr>
        <a:xfrm>
          <a:off x="0" y="0"/>
          <a:ext cx="0" cy="0"/>
          <a:chOff x="0" y="0"/>
          <a:chExt cx="0" cy="0"/>
        </a:xfrm>
      </p:grpSpPr>
      <p:sp>
        <p:nvSpPr>
          <p:cNvPr id="58" name="Google Shape;58;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rina">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87900" y="458025"/>
            <a:ext cx="8368200" cy="686100"/>
          </a:xfrm>
          <a:prstGeom prst="rect">
            <a:avLst/>
          </a:prstGeom>
          <a:noFill/>
          <a:ln>
            <a:noFill/>
          </a:ln>
        </p:spPr>
        <p:txBody>
          <a:bodyPr spcFirstLastPara="1" wrap="square" lIns="91425" tIns="91425" rIns="91425" bIns="91425" anchor="b" anchorCtr="0">
            <a:normAutofit/>
          </a:bodyPr>
          <a:lstStyle>
            <a:lvl1pPr lvl="0">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1pPr>
            <a:lvl2pPr lvl="1">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2pPr>
            <a:lvl3pPr lvl="2">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3pPr>
            <a:lvl4pPr lvl="3">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4pPr>
            <a:lvl5pPr lvl="4">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5pPr>
            <a:lvl6pPr lvl="5">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6pPr>
            <a:lvl7pPr lvl="6">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7pPr>
            <a:lvl8pPr lvl="7">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8pPr>
            <a:lvl9pPr lvl="8">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9pPr>
          </a:lstStyle>
          <a:p>
            <a:endParaRPr/>
          </a:p>
        </p:txBody>
      </p:sp>
      <p:sp>
        <p:nvSpPr>
          <p:cNvPr id="7" name="Google Shape;7;p1"/>
          <p:cNvSpPr txBox="1">
            <a:spLocks noGrp="1"/>
          </p:cNvSpPr>
          <p:nvPr>
            <p:ph type="body" idx="1"/>
          </p:nvPr>
        </p:nvSpPr>
        <p:spPr>
          <a:xfrm>
            <a:off x="387900" y="1489824"/>
            <a:ext cx="8368200" cy="30789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1"/>
              </a:buClr>
              <a:buSzPts val="1800"/>
              <a:buFont typeface="Roboto"/>
              <a:buChar char="●"/>
              <a:defRPr sz="1800">
                <a:solidFill>
                  <a:schemeClr val="dk1"/>
                </a:solidFill>
                <a:latin typeface="Roboto"/>
                <a:ea typeface="Roboto"/>
                <a:cs typeface="Roboto"/>
                <a:sym typeface="Roboto"/>
              </a:defRPr>
            </a:lvl1pPr>
            <a:lvl2pPr marL="914400" lvl="1" indent="-3175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2pPr>
            <a:lvl3pPr marL="1371600" lvl="2" indent="-3175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3pPr>
            <a:lvl4pPr marL="1828800" lvl="3" indent="-3175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4pPr>
            <a:lvl5pPr marL="2286000" lvl="4" indent="-3175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5pPr>
            <a:lvl6pPr marL="2743200" lvl="5" indent="-3175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6pPr>
            <a:lvl7pPr marL="3200400" lvl="6" indent="-3175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7pPr>
            <a:lvl8pPr marL="3657600" lvl="7" indent="-3175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8pPr>
            <a:lvl9pPr marL="4114800" lvl="8" indent="-3175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1"/>
                </a:solidFill>
                <a:latin typeface="Roboto"/>
                <a:ea typeface="Roboto"/>
                <a:cs typeface="Roboto"/>
                <a:sym typeface="Roboto"/>
              </a:defRPr>
            </a:lvl1pPr>
            <a:lvl2pPr lvl="1" algn="r">
              <a:buNone/>
              <a:defRPr sz="1000">
                <a:solidFill>
                  <a:schemeClr val="dk1"/>
                </a:solidFill>
                <a:latin typeface="Roboto"/>
                <a:ea typeface="Roboto"/>
                <a:cs typeface="Roboto"/>
                <a:sym typeface="Roboto"/>
              </a:defRPr>
            </a:lvl2pPr>
            <a:lvl3pPr lvl="2" algn="r">
              <a:buNone/>
              <a:defRPr sz="1000">
                <a:solidFill>
                  <a:schemeClr val="dk1"/>
                </a:solidFill>
                <a:latin typeface="Roboto"/>
                <a:ea typeface="Roboto"/>
                <a:cs typeface="Roboto"/>
                <a:sym typeface="Roboto"/>
              </a:defRPr>
            </a:lvl3pPr>
            <a:lvl4pPr lvl="3" algn="r">
              <a:buNone/>
              <a:defRPr sz="1000">
                <a:solidFill>
                  <a:schemeClr val="dk1"/>
                </a:solidFill>
                <a:latin typeface="Roboto"/>
                <a:ea typeface="Roboto"/>
                <a:cs typeface="Roboto"/>
                <a:sym typeface="Roboto"/>
              </a:defRPr>
            </a:lvl4pPr>
            <a:lvl5pPr lvl="4" algn="r">
              <a:buNone/>
              <a:defRPr sz="1000">
                <a:solidFill>
                  <a:schemeClr val="dk1"/>
                </a:solidFill>
                <a:latin typeface="Roboto"/>
                <a:ea typeface="Roboto"/>
                <a:cs typeface="Roboto"/>
                <a:sym typeface="Roboto"/>
              </a:defRPr>
            </a:lvl5pPr>
            <a:lvl6pPr lvl="5" algn="r">
              <a:buNone/>
              <a:defRPr sz="1000">
                <a:solidFill>
                  <a:schemeClr val="dk1"/>
                </a:solidFill>
                <a:latin typeface="Roboto"/>
                <a:ea typeface="Roboto"/>
                <a:cs typeface="Roboto"/>
                <a:sym typeface="Roboto"/>
              </a:defRPr>
            </a:lvl6pPr>
            <a:lvl7pPr lvl="6" algn="r">
              <a:buNone/>
              <a:defRPr sz="1000">
                <a:solidFill>
                  <a:schemeClr val="dk1"/>
                </a:solidFill>
                <a:latin typeface="Roboto"/>
                <a:ea typeface="Roboto"/>
                <a:cs typeface="Roboto"/>
                <a:sym typeface="Roboto"/>
              </a:defRPr>
            </a:lvl7pPr>
            <a:lvl8pPr lvl="7" algn="r">
              <a:buNone/>
              <a:defRPr sz="1000">
                <a:solidFill>
                  <a:schemeClr val="dk1"/>
                </a:solidFill>
                <a:latin typeface="Roboto"/>
                <a:ea typeface="Roboto"/>
                <a:cs typeface="Roboto"/>
                <a:sym typeface="Roboto"/>
              </a:defRPr>
            </a:lvl8pPr>
            <a:lvl9pPr lvl="8" algn="r">
              <a:buNone/>
              <a:defRPr sz="1000">
                <a:solidFill>
                  <a:schemeClr val="dk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Shape 62"/>
        <p:cNvGrpSpPr/>
        <p:nvPr/>
      </p:nvGrpSpPr>
      <p:grpSpPr>
        <a:xfrm>
          <a:off x="0" y="0"/>
          <a:ext cx="0" cy="0"/>
          <a:chOff x="0" y="0"/>
          <a:chExt cx="0" cy="0"/>
        </a:xfrm>
      </p:grpSpPr>
      <p:sp>
        <p:nvSpPr>
          <p:cNvPr id="63" name="Google Shape;63;p13"/>
          <p:cNvSpPr txBox="1">
            <a:spLocks noGrp="1"/>
          </p:cNvSpPr>
          <p:nvPr>
            <p:ph type="ctrTitle"/>
          </p:nvPr>
        </p:nvSpPr>
        <p:spPr>
          <a:xfrm>
            <a:off x="1680302" y="1188925"/>
            <a:ext cx="5783400" cy="14574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b="1" sz="4000">
                <a:solidFill>
                  <a:srgbClr val="FFFFFF"/>
                </a:solidFill>
                <a:latin typeface="Calibri"/>
              </a:rPr>
              <a:t>AI-Powered Collections Strategy</a:t>
            </a:r>
            <a:endParaRPr sz="3000" dirty="0"/>
          </a:p>
        </p:txBody>
      </p:sp>
      <p:sp>
        <p:nvSpPr>
          <p:cNvPr id="64" name="Google Shape;64;p13"/>
          <p:cNvSpPr txBox="1">
            <a:spLocks noGrp="1"/>
          </p:cNvSpPr>
          <p:nvPr>
            <p:ph type="subTitle" idx="1"/>
          </p:nvPr>
        </p:nvSpPr>
        <p:spPr>
          <a:xfrm>
            <a:off x="1680302" y="3049450"/>
            <a:ext cx="5783400" cy="909000"/>
          </a:xfrm>
          <a:prstGeom prst="rect">
            <a:avLst/>
          </a:prstGeom>
        </p:spPr>
        <p:txBody>
          <a:bodyPr spcFirstLastPara="1" wrap="square" lIns="91425" tIns="91425" rIns="91425" bIns="91425" anchor="t" anchorCtr="0">
            <a:normAutofit fontScale="85000"/>
          </a:bodyPr>
          <a:lstStyle/>
          <a:p>
            <a:pPr marL="0" lvl="0" indent="0" algn="l" rtl="0">
              <a:spcBef>
                <a:spcPts val="0"/>
              </a:spcBef>
              <a:spcAft>
                <a:spcPts val="0"/>
              </a:spcAft>
              <a:buNone/>
            </a:pPr>
            <a:r>
              <a:rPr b="0" sz="2000">
                <a:solidFill>
                  <a:srgbClr val="CADCFC"/>
                </a:solidFill>
                <a:latin typeface="Calibri"/>
              </a:rPr>
              <a:t>Leveraging Agentic AI for Scalable, Fair, and Effective
Debt Management at Geldium</a:t>
            </a:r>
            <a:endParaRPr/>
          </a:p>
        </p:txBody>
      </p:sp>
      <p:sp>
        <p:nvSpPr>
          <p:cNvPr id="65" name="Rectangle 64"/>
          <p:cNvSpPr/>
          <p:nvPr/>
        </p:nvSpPr>
        <p:spPr>
          <a:xfrm>
            <a:off x="0" y="0"/>
            <a:ext cx="9144000" cy="137160"/>
          </a:xfrm>
          <a:prstGeom prst="rect">
            <a:avLst/>
          </a:prstGeom>
          <a:solidFill>
            <a:srgbClr val="028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0" y="5006340"/>
            <a:ext cx="9144000" cy="137160"/>
          </a:xfrm>
          <a:prstGeom prst="rect">
            <a:avLst/>
          </a:prstGeom>
          <a:solidFill>
            <a:srgbClr val="028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5943600" y="4480560"/>
            <a:ext cx="2926080" cy="457200"/>
          </a:xfrm>
          <a:prstGeom prst="rect">
            <a:avLst/>
          </a:prstGeom>
          <a:noFill/>
        </p:spPr>
        <p:txBody>
          <a:bodyPr wrap="square">
            <a:spAutoFit/>
          </a:bodyPr>
          <a:lstStyle/>
          <a:p>
            <a:pPr algn="r"/>
            <a:r>
              <a:rPr sz="1100" b="0">
                <a:solidFill>
                  <a:srgbClr val="CADCFC"/>
                </a:solidFill>
                <a:latin typeface="Calibri"/>
              </a:rPr>
              <a:t>Tata iQ  |  Hadeel, AI Transformation Consultant</a:t>
            </a:r>
          </a:p>
        </p:txBody>
      </p:sp>
      <p:sp>
        <p:nvSpPr>
          <p:cNvPr id="68" name="Oval 67"/>
          <p:cNvSpPr/>
          <p:nvPr/>
        </p:nvSpPr>
        <p:spPr>
          <a:xfrm>
            <a:off x="7132320" y="274320"/>
            <a:ext cx="1828800" cy="1828800"/>
          </a:xfrm>
          <a:prstGeom prst="ellipse">
            <a:avLst/>
          </a:prstGeom>
          <a:solidFill>
            <a:srgbClr val="028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Oval 68"/>
          <p:cNvSpPr/>
          <p:nvPr/>
        </p:nvSpPr>
        <p:spPr>
          <a:xfrm>
            <a:off x="7406640" y="548640"/>
            <a:ext cx="1280160" cy="128016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7315200" y="731520"/>
            <a:ext cx="1463040" cy="914400"/>
          </a:xfrm>
          <a:prstGeom prst="rect">
            <a:avLst/>
          </a:prstGeom>
          <a:noFill/>
        </p:spPr>
        <p:txBody>
          <a:bodyPr wrap="square">
            <a:spAutoFit/>
          </a:bodyPr>
          <a:lstStyle/>
          <a:p>
            <a:pPr algn="ctr"/>
            <a:r>
              <a:rPr sz="1800" b="1">
                <a:solidFill>
                  <a:srgbClr val="FFFFFF"/>
                </a:solidFill>
                <a:latin typeface="Calibri"/>
              </a:rPr>
              <a:t>Task 4</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68"/>
        <p:cNvGrpSpPr/>
        <p:nvPr/>
      </p:nvGrpSpPr>
      <p:grpSpPr>
        <a:xfrm>
          <a:off x="0" y="0"/>
          <a:ext cx="0" cy="0"/>
          <a:chOff x="0" y="0"/>
          <a:chExt cx="0" cy="0"/>
        </a:xfrm>
      </p:grpSpPr>
      <p:sp>
        <p:nvSpPr>
          <p:cNvPr id="69" name="Google Shape;69;p14"/>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b="1" sz="3000">
                <a:solidFill>
                  <a:srgbClr val="FFFFFF"/>
                </a:solidFill>
                <a:latin typeface="Calibri"/>
              </a:rPr>
              <a:t>How the System Works</a:t>
            </a:r>
            <a:endParaRPr/>
          </a:p>
        </p:txBody>
      </p:sp>
      <p:sp>
        <p:nvSpPr>
          <p:cNvPr id="70" name="Google Shape;70;p14"/>
          <p:cNvSpPr txBox="1">
            <a:spLocks noGrp="1"/>
          </p:cNvSpPr>
          <p:nvPr>
            <p:ph type="body" idx="1"/>
          </p:nvPr>
        </p:nvSpPr>
        <p:spPr>
          <a:xfrm>
            <a:off x="387900" y="1489824"/>
            <a:ext cx="8368200" cy="3078900"/>
          </a:xfrm>
          <a:prstGeom prst="rect">
            <a:avLst/>
          </a:prstGeom>
        </p:spPr>
        <p:txBody>
          <a:bodyPr spcFirstLastPara="1" wrap="square" lIns="91425" tIns="91425" rIns="91425" bIns="91425" anchor="t" anchorCtr="0">
            <a:noAutofit/>
          </a:bodyPr>
          <a:lstStyle/>
          <a:p>
            <a:pPr>
              <a:buFont typeface="Arial" panose="020B0604020202020204" pitchFamily="34" charset="0"/>
              <a:buChar char="•"/>
            </a:pPr>
          </a:p>
          <a:p>
            <a:pPr>
              <a:buFont typeface="Arial" panose="020B0604020202020204" pitchFamily="34" charset="0"/>
              <a:buChar char="•"/>
            </a:pPr>
            <a:r>
              <a:rPr lang="en-GB" sz="1600" b="1" dirty="0"/>
              <a:t/>
            </a:r>
            <a:r>
              <a:rPr lang="en-GB" sz="1600" dirty="0"/>
              <a:t/>
            </a:r>
          </a:p>
          <a:p>
            <a:pPr>
              <a:buFont typeface="Arial" panose="020B0604020202020204" pitchFamily="34" charset="0"/>
              <a:buChar char="•"/>
            </a:pPr>
            <a:r>
              <a:rPr lang="en-GB" sz="1600" b="1" dirty="0"/>
              <a:t/>
            </a:r>
            <a:r>
              <a:rPr lang="en-GB" sz="1600" dirty="0"/>
              <a:t/>
            </a:r>
          </a:p>
          <a:p>
            <a:pPr>
              <a:buFont typeface="Arial" panose="020B0604020202020204" pitchFamily="34" charset="0"/>
              <a:buChar char="•"/>
            </a:pPr>
            <a:r>
              <a:rPr lang="en-GB" sz="1600" b="1" dirty="0"/>
              <a:t/>
            </a:r>
            <a:r>
              <a:rPr lang="en-GB" sz="1600" dirty="0"/>
              <a:t/>
            </a:r>
          </a:p>
        </p:txBody>
      </p:sp>
      <p:sp>
        <p:nvSpPr>
          <p:cNvPr id="71" name="Rectangle 70"/>
          <p:cNvSpPr/>
          <p:nvPr/>
        </p:nvSpPr>
        <p:spPr>
          <a:xfrm>
            <a:off x="0" y="0"/>
            <a:ext cx="9144000" cy="100584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228600" y="1188720"/>
            <a:ext cx="1965960" cy="3291840"/>
          </a:xfrm>
          <a:prstGeom prst="rect">
            <a:avLst/>
          </a:prstGeom>
          <a:solidFill>
            <a:srgbClr val="F0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Oval 72"/>
          <p:cNvSpPr/>
          <p:nvPr/>
        </p:nvSpPr>
        <p:spPr>
          <a:xfrm>
            <a:off x="301752" y="1261872"/>
            <a:ext cx="411480" cy="4114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301752" y="1234440"/>
            <a:ext cx="411480" cy="365760"/>
          </a:xfrm>
          <a:prstGeom prst="rect">
            <a:avLst/>
          </a:prstGeom>
          <a:noFill/>
        </p:spPr>
        <p:txBody>
          <a:bodyPr wrap="square">
            <a:spAutoFit/>
          </a:bodyPr>
          <a:lstStyle/>
          <a:p>
            <a:pPr algn="ctr"/>
            <a:r>
              <a:rPr sz="1100" b="1">
                <a:solidFill>
                  <a:srgbClr val="FFFFFF"/>
                </a:solidFill>
                <a:latin typeface="Calibri"/>
              </a:rPr>
              <a:t>01</a:t>
            </a:r>
          </a:p>
        </p:txBody>
      </p:sp>
      <p:sp>
        <p:nvSpPr>
          <p:cNvPr id="75" name="TextBox 74"/>
          <p:cNvSpPr txBox="1"/>
          <p:nvPr/>
        </p:nvSpPr>
        <p:spPr>
          <a:xfrm>
            <a:off x="301752" y="1737360"/>
            <a:ext cx="1819656" cy="365760"/>
          </a:xfrm>
          <a:prstGeom prst="rect">
            <a:avLst/>
          </a:prstGeom>
          <a:noFill/>
        </p:spPr>
        <p:txBody>
          <a:bodyPr wrap="square">
            <a:spAutoFit/>
          </a:bodyPr>
          <a:lstStyle/>
          <a:p>
            <a:pPr algn="l"/>
            <a:r>
              <a:rPr sz="1300" b="1">
                <a:solidFill>
                  <a:srgbClr val="1E2761"/>
                </a:solidFill>
                <a:latin typeface="Calibri"/>
              </a:rPr>
              <a:t>INPUTS</a:t>
            </a:r>
          </a:p>
        </p:txBody>
      </p:sp>
      <p:sp>
        <p:nvSpPr>
          <p:cNvPr id="76" name="TextBox 75"/>
          <p:cNvSpPr txBox="1"/>
          <p:nvPr/>
        </p:nvSpPr>
        <p:spPr>
          <a:xfrm>
            <a:off x="301752" y="2057400"/>
            <a:ext cx="1819656" cy="320040"/>
          </a:xfrm>
          <a:prstGeom prst="rect">
            <a:avLst/>
          </a:prstGeom>
          <a:noFill/>
        </p:spPr>
        <p:txBody>
          <a:bodyPr wrap="square">
            <a:spAutoFit/>
          </a:bodyPr>
          <a:lstStyle/>
          <a:p>
            <a:pPr algn="l"/>
            <a:r>
              <a:rPr sz="1000" b="0">
                <a:solidFill>
                  <a:srgbClr val="028090"/>
                </a:solidFill>
                <a:latin typeface="Calibri"/>
              </a:rPr>
              <a:t>Customer Data Collected</a:t>
            </a:r>
          </a:p>
        </p:txBody>
      </p:sp>
      <p:sp>
        <p:nvSpPr>
          <p:cNvPr id="77" name="Rectangle 76"/>
          <p:cNvSpPr/>
          <p:nvPr/>
        </p:nvSpPr>
        <p:spPr>
          <a:xfrm>
            <a:off x="301752" y="2359152"/>
            <a:ext cx="1819656" cy="27432"/>
          </a:xfrm>
          <a:prstGeom prst="rect">
            <a:avLst/>
          </a:prstGeom>
          <a:solidFill>
            <a:srgbClr val="028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301752" y="2423160"/>
            <a:ext cx="1819656" cy="1920240"/>
          </a:xfrm>
          <a:prstGeom prst="rect">
            <a:avLst/>
          </a:prstGeom>
          <a:noFill/>
        </p:spPr>
        <p:txBody>
          <a:bodyPr wrap="square">
            <a:spAutoFit/>
          </a:bodyPr>
          <a:lstStyle/>
          <a:p>
            <a:pPr algn="l"/>
            <a:r>
              <a:rPr sz="1050" b="0">
                <a:solidFill>
                  <a:srgbClr val="1A1A2E"/>
                </a:solidFill>
                <a:latin typeface="Calibri"/>
              </a:rPr>
              <a:t>• Demographics (Age, Location)
• Credit Score &amp; Utilization
• Missed Payments (0–6)
• 6-Month Payment History
• Debt-to-Income Ratio
• Loan Balance &amp; Income</a:t>
            </a:r>
          </a:p>
        </p:txBody>
      </p:sp>
      <p:sp>
        <p:nvSpPr>
          <p:cNvPr id="79" name="Rectangle 78"/>
          <p:cNvSpPr/>
          <p:nvPr/>
        </p:nvSpPr>
        <p:spPr>
          <a:xfrm>
            <a:off x="2304288" y="1188720"/>
            <a:ext cx="1965960" cy="3291840"/>
          </a:xfrm>
          <a:prstGeom prst="rect">
            <a:avLst/>
          </a:prstGeom>
          <a:solidFill>
            <a:srgbClr val="F0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Oval 79"/>
          <p:cNvSpPr/>
          <p:nvPr/>
        </p:nvSpPr>
        <p:spPr>
          <a:xfrm>
            <a:off x="2377440" y="1261872"/>
            <a:ext cx="411480" cy="4114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2377440" y="1234440"/>
            <a:ext cx="411480" cy="365760"/>
          </a:xfrm>
          <a:prstGeom prst="rect">
            <a:avLst/>
          </a:prstGeom>
          <a:noFill/>
        </p:spPr>
        <p:txBody>
          <a:bodyPr wrap="square">
            <a:spAutoFit/>
          </a:bodyPr>
          <a:lstStyle/>
          <a:p>
            <a:pPr algn="ctr"/>
            <a:r>
              <a:rPr sz="1100" b="1">
                <a:solidFill>
                  <a:srgbClr val="FFFFFF"/>
                </a:solidFill>
                <a:latin typeface="Calibri"/>
              </a:rPr>
              <a:t>02</a:t>
            </a:r>
          </a:p>
        </p:txBody>
      </p:sp>
      <p:sp>
        <p:nvSpPr>
          <p:cNvPr id="82" name="TextBox 81"/>
          <p:cNvSpPr txBox="1"/>
          <p:nvPr/>
        </p:nvSpPr>
        <p:spPr>
          <a:xfrm>
            <a:off x="2377440" y="1737360"/>
            <a:ext cx="1819656" cy="365760"/>
          </a:xfrm>
          <a:prstGeom prst="rect">
            <a:avLst/>
          </a:prstGeom>
          <a:noFill/>
        </p:spPr>
        <p:txBody>
          <a:bodyPr wrap="square">
            <a:spAutoFit/>
          </a:bodyPr>
          <a:lstStyle/>
          <a:p>
            <a:pPr algn="l"/>
            <a:r>
              <a:rPr sz="1300" b="1">
                <a:solidFill>
                  <a:srgbClr val="1E2761"/>
                </a:solidFill>
                <a:latin typeface="Calibri"/>
              </a:rPr>
              <a:t>DECISION LOGIC</a:t>
            </a:r>
          </a:p>
        </p:txBody>
      </p:sp>
      <p:sp>
        <p:nvSpPr>
          <p:cNvPr id="83" name="TextBox 82"/>
          <p:cNvSpPr txBox="1"/>
          <p:nvPr/>
        </p:nvSpPr>
        <p:spPr>
          <a:xfrm>
            <a:off x="2377440" y="2057400"/>
            <a:ext cx="1819656" cy="320040"/>
          </a:xfrm>
          <a:prstGeom prst="rect">
            <a:avLst/>
          </a:prstGeom>
          <a:noFill/>
        </p:spPr>
        <p:txBody>
          <a:bodyPr wrap="square">
            <a:spAutoFit/>
          </a:bodyPr>
          <a:lstStyle/>
          <a:p>
            <a:pPr algn="l"/>
            <a:r>
              <a:rPr sz="1000" b="0">
                <a:solidFill>
                  <a:srgbClr val="028090"/>
                </a:solidFill>
                <a:latin typeface="Calibri"/>
              </a:rPr>
              <a:t>Risk Assessment Engine</a:t>
            </a:r>
          </a:p>
        </p:txBody>
      </p:sp>
      <p:sp>
        <p:nvSpPr>
          <p:cNvPr id="84" name="Rectangle 83"/>
          <p:cNvSpPr/>
          <p:nvPr/>
        </p:nvSpPr>
        <p:spPr>
          <a:xfrm>
            <a:off x="2377440" y="2359152"/>
            <a:ext cx="1819656" cy="27432"/>
          </a:xfrm>
          <a:prstGeom prst="rect">
            <a:avLst/>
          </a:prstGeom>
          <a:solidFill>
            <a:srgbClr val="028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2377440" y="2423160"/>
            <a:ext cx="1819656" cy="1920240"/>
          </a:xfrm>
          <a:prstGeom prst="rect">
            <a:avLst/>
          </a:prstGeom>
          <a:noFill/>
        </p:spPr>
        <p:txBody>
          <a:bodyPr wrap="square">
            <a:spAutoFit/>
          </a:bodyPr>
          <a:lstStyle/>
          <a:p>
            <a:pPr algn="l"/>
            <a:r>
              <a:rPr sz="1050" b="0">
                <a:solidFill>
                  <a:srgbClr val="1A1A2E"/>
                </a:solidFill>
                <a:latin typeface="Calibri"/>
              </a:rPr>
              <a:t>• Random Forest model scores
  each customer (0–100%)
• Threshold: &gt;50% = High Risk
• Feature importance explains
  each prediction
• Daily risk list generated</a:t>
            </a:r>
          </a:p>
        </p:txBody>
      </p:sp>
      <p:sp>
        <p:nvSpPr>
          <p:cNvPr id="86" name="Rectangle 85"/>
          <p:cNvSpPr/>
          <p:nvPr/>
        </p:nvSpPr>
        <p:spPr>
          <a:xfrm>
            <a:off x="4379976" y="1188720"/>
            <a:ext cx="1965960" cy="3291840"/>
          </a:xfrm>
          <a:prstGeom prst="rect">
            <a:avLst/>
          </a:prstGeom>
          <a:solidFill>
            <a:srgbClr val="F0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Oval 86"/>
          <p:cNvSpPr/>
          <p:nvPr/>
        </p:nvSpPr>
        <p:spPr>
          <a:xfrm>
            <a:off x="4453128" y="1261872"/>
            <a:ext cx="411480" cy="4114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4453128" y="1234440"/>
            <a:ext cx="411480" cy="365760"/>
          </a:xfrm>
          <a:prstGeom prst="rect">
            <a:avLst/>
          </a:prstGeom>
          <a:noFill/>
        </p:spPr>
        <p:txBody>
          <a:bodyPr wrap="square">
            <a:spAutoFit/>
          </a:bodyPr>
          <a:lstStyle/>
          <a:p>
            <a:pPr algn="ctr"/>
            <a:r>
              <a:rPr sz="1100" b="1">
                <a:solidFill>
                  <a:srgbClr val="FFFFFF"/>
                </a:solidFill>
                <a:latin typeface="Calibri"/>
              </a:rPr>
              <a:t>03</a:t>
            </a:r>
          </a:p>
        </p:txBody>
      </p:sp>
      <p:sp>
        <p:nvSpPr>
          <p:cNvPr id="89" name="TextBox 88"/>
          <p:cNvSpPr txBox="1"/>
          <p:nvPr/>
        </p:nvSpPr>
        <p:spPr>
          <a:xfrm>
            <a:off x="4453128" y="1737360"/>
            <a:ext cx="1819656" cy="365760"/>
          </a:xfrm>
          <a:prstGeom prst="rect">
            <a:avLst/>
          </a:prstGeom>
          <a:noFill/>
        </p:spPr>
        <p:txBody>
          <a:bodyPr wrap="square">
            <a:spAutoFit/>
          </a:bodyPr>
          <a:lstStyle/>
          <a:p>
            <a:pPr algn="l"/>
            <a:r>
              <a:rPr sz="1300" b="1">
                <a:solidFill>
                  <a:srgbClr val="1E2761"/>
                </a:solidFill>
                <a:latin typeface="Calibri"/>
              </a:rPr>
              <a:t>ACTIONS</a:t>
            </a:r>
          </a:p>
        </p:txBody>
      </p:sp>
      <p:sp>
        <p:nvSpPr>
          <p:cNvPr id="90" name="TextBox 89"/>
          <p:cNvSpPr txBox="1"/>
          <p:nvPr/>
        </p:nvSpPr>
        <p:spPr>
          <a:xfrm>
            <a:off x="4453128" y="2057400"/>
            <a:ext cx="1819656" cy="320040"/>
          </a:xfrm>
          <a:prstGeom prst="rect">
            <a:avLst/>
          </a:prstGeom>
          <a:noFill/>
        </p:spPr>
        <p:txBody>
          <a:bodyPr wrap="square">
            <a:spAutoFit/>
          </a:bodyPr>
          <a:lstStyle/>
          <a:p>
            <a:pPr algn="l"/>
            <a:r>
              <a:rPr sz="1000" b="0">
                <a:solidFill>
                  <a:srgbClr val="028090"/>
                </a:solidFill>
                <a:latin typeface="Calibri"/>
              </a:rPr>
              <a:t>Targeted Interventions</a:t>
            </a:r>
          </a:p>
        </p:txBody>
      </p:sp>
      <p:sp>
        <p:nvSpPr>
          <p:cNvPr id="91" name="Rectangle 90"/>
          <p:cNvSpPr/>
          <p:nvPr/>
        </p:nvSpPr>
        <p:spPr>
          <a:xfrm>
            <a:off x="4453128" y="2359152"/>
            <a:ext cx="1819656" cy="27432"/>
          </a:xfrm>
          <a:prstGeom prst="rect">
            <a:avLst/>
          </a:prstGeom>
          <a:solidFill>
            <a:srgbClr val="028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4453128" y="2423160"/>
            <a:ext cx="1819656" cy="1920240"/>
          </a:xfrm>
          <a:prstGeom prst="rect">
            <a:avLst/>
          </a:prstGeom>
          <a:noFill/>
        </p:spPr>
        <p:txBody>
          <a:bodyPr wrap="square">
            <a:spAutoFit/>
          </a:bodyPr>
          <a:lstStyle/>
          <a:p>
            <a:pPr algn="l"/>
            <a:r>
              <a:rPr sz="1050" b="0">
                <a:solidFill>
                  <a:srgbClr val="1A1A2E"/>
                </a:solidFill>
                <a:latin typeface="Calibri"/>
              </a:rPr>
              <a:t>• SMS reminders (Low risk)
• Personalized call outreach
  (Medium risk)
• Payment plan offer
  (High risk)
• Escalation to agent
  (Critical risk)</a:t>
            </a:r>
          </a:p>
        </p:txBody>
      </p:sp>
      <p:sp>
        <p:nvSpPr>
          <p:cNvPr id="93" name="Rectangle 92"/>
          <p:cNvSpPr/>
          <p:nvPr/>
        </p:nvSpPr>
        <p:spPr>
          <a:xfrm>
            <a:off x="6455664" y="1188720"/>
            <a:ext cx="1965960" cy="3291840"/>
          </a:xfrm>
          <a:prstGeom prst="rect">
            <a:avLst/>
          </a:prstGeom>
          <a:solidFill>
            <a:srgbClr val="F0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Oval 93"/>
          <p:cNvSpPr/>
          <p:nvPr/>
        </p:nvSpPr>
        <p:spPr>
          <a:xfrm>
            <a:off x="6528816" y="1261872"/>
            <a:ext cx="411480" cy="4114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6528816" y="1234440"/>
            <a:ext cx="411480" cy="365760"/>
          </a:xfrm>
          <a:prstGeom prst="rect">
            <a:avLst/>
          </a:prstGeom>
          <a:noFill/>
        </p:spPr>
        <p:txBody>
          <a:bodyPr wrap="square">
            <a:spAutoFit/>
          </a:bodyPr>
          <a:lstStyle/>
          <a:p>
            <a:pPr algn="ctr"/>
            <a:r>
              <a:rPr sz="1100" b="1">
                <a:solidFill>
                  <a:srgbClr val="FFFFFF"/>
                </a:solidFill>
                <a:latin typeface="Calibri"/>
              </a:rPr>
              <a:t>04</a:t>
            </a:r>
          </a:p>
        </p:txBody>
      </p:sp>
      <p:sp>
        <p:nvSpPr>
          <p:cNvPr id="96" name="TextBox 95"/>
          <p:cNvSpPr txBox="1"/>
          <p:nvPr/>
        </p:nvSpPr>
        <p:spPr>
          <a:xfrm>
            <a:off x="6528816" y="1737360"/>
            <a:ext cx="1819656" cy="365760"/>
          </a:xfrm>
          <a:prstGeom prst="rect">
            <a:avLst/>
          </a:prstGeom>
          <a:noFill/>
        </p:spPr>
        <p:txBody>
          <a:bodyPr wrap="square">
            <a:spAutoFit/>
          </a:bodyPr>
          <a:lstStyle/>
          <a:p>
            <a:pPr algn="l"/>
            <a:r>
              <a:rPr sz="1300" b="1">
                <a:solidFill>
                  <a:srgbClr val="1E2761"/>
                </a:solidFill>
                <a:latin typeface="Calibri"/>
              </a:rPr>
              <a:t>LEARNING LOOP</a:t>
            </a:r>
          </a:p>
        </p:txBody>
      </p:sp>
      <p:sp>
        <p:nvSpPr>
          <p:cNvPr id="97" name="TextBox 96"/>
          <p:cNvSpPr txBox="1"/>
          <p:nvPr/>
        </p:nvSpPr>
        <p:spPr>
          <a:xfrm>
            <a:off x="6528816" y="2057400"/>
            <a:ext cx="1819656" cy="320040"/>
          </a:xfrm>
          <a:prstGeom prst="rect">
            <a:avLst/>
          </a:prstGeom>
          <a:noFill/>
        </p:spPr>
        <p:txBody>
          <a:bodyPr wrap="square">
            <a:spAutoFit/>
          </a:bodyPr>
          <a:lstStyle/>
          <a:p>
            <a:pPr algn="l"/>
            <a:r>
              <a:rPr sz="1000" b="0">
                <a:solidFill>
                  <a:srgbClr val="028090"/>
                </a:solidFill>
                <a:latin typeface="Calibri"/>
              </a:rPr>
              <a:t>Continuous Improvement</a:t>
            </a:r>
          </a:p>
        </p:txBody>
      </p:sp>
      <p:sp>
        <p:nvSpPr>
          <p:cNvPr id="98" name="Rectangle 97"/>
          <p:cNvSpPr/>
          <p:nvPr/>
        </p:nvSpPr>
        <p:spPr>
          <a:xfrm>
            <a:off x="6528816" y="2359152"/>
            <a:ext cx="1819656" cy="27432"/>
          </a:xfrm>
          <a:prstGeom prst="rect">
            <a:avLst/>
          </a:prstGeom>
          <a:solidFill>
            <a:srgbClr val="028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6528816" y="2423160"/>
            <a:ext cx="1819656" cy="1920240"/>
          </a:xfrm>
          <a:prstGeom prst="rect">
            <a:avLst/>
          </a:prstGeom>
          <a:noFill/>
        </p:spPr>
        <p:txBody>
          <a:bodyPr wrap="square">
            <a:spAutoFit/>
          </a:bodyPr>
          <a:lstStyle/>
          <a:p>
            <a:pPr algn="l"/>
            <a:r>
              <a:rPr sz="1050" b="0">
                <a:solidFill>
                  <a:srgbClr val="1A1A2E"/>
                </a:solidFill>
                <a:latin typeface="Calibri"/>
              </a:rPr>
              <a:t>• Outcomes tracked weekly
• Model retrained monthly
• AUC-ROC monitored (&gt;0.75)
• Bias checks across segments
• Strategy refined based
  on real results</a:t>
            </a:r>
          </a:p>
        </p:txBody>
      </p:sp>
      <p:sp>
        <p:nvSpPr>
          <p:cNvPr id="100" name="TextBox 99"/>
          <p:cNvSpPr txBox="1"/>
          <p:nvPr/>
        </p:nvSpPr>
        <p:spPr>
          <a:xfrm>
            <a:off x="2148840" y="2651760"/>
            <a:ext cx="201168" cy="365760"/>
          </a:xfrm>
          <a:prstGeom prst="rect">
            <a:avLst/>
          </a:prstGeom>
          <a:noFill/>
        </p:spPr>
        <p:txBody>
          <a:bodyPr wrap="square">
            <a:spAutoFit/>
          </a:bodyPr>
          <a:lstStyle/>
          <a:p>
            <a:pPr algn="ctr"/>
            <a:r>
              <a:rPr sz="1600" b="0">
                <a:solidFill>
                  <a:srgbClr val="028090"/>
                </a:solidFill>
                <a:latin typeface="Calibri"/>
              </a:rPr>
              <a:t>▶</a:t>
            </a:r>
          </a:p>
        </p:txBody>
      </p:sp>
      <p:sp>
        <p:nvSpPr>
          <p:cNvPr id="101" name="TextBox 100"/>
          <p:cNvSpPr txBox="1"/>
          <p:nvPr/>
        </p:nvSpPr>
        <p:spPr>
          <a:xfrm>
            <a:off x="4224528" y="2651760"/>
            <a:ext cx="201168" cy="365760"/>
          </a:xfrm>
          <a:prstGeom prst="rect">
            <a:avLst/>
          </a:prstGeom>
          <a:noFill/>
        </p:spPr>
        <p:txBody>
          <a:bodyPr wrap="square">
            <a:spAutoFit/>
          </a:bodyPr>
          <a:lstStyle/>
          <a:p>
            <a:pPr algn="ctr"/>
            <a:r>
              <a:rPr sz="1600" b="0">
                <a:solidFill>
                  <a:srgbClr val="028090"/>
                </a:solidFill>
                <a:latin typeface="Calibri"/>
              </a:rPr>
              <a:t>▶</a:t>
            </a:r>
          </a:p>
        </p:txBody>
      </p:sp>
      <p:sp>
        <p:nvSpPr>
          <p:cNvPr id="102" name="TextBox 101"/>
          <p:cNvSpPr txBox="1"/>
          <p:nvPr/>
        </p:nvSpPr>
        <p:spPr>
          <a:xfrm>
            <a:off x="6300216" y="2651760"/>
            <a:ext cx="201168" cy="365760"/>
          </a:xfrm>
          <a:prstGeom prst="rect">
            <a:avLst/>
          </a:prstGeom>
          <a:noFill/>
        </p:spPr>
        <p:txBody>
          <a:bodyPr wrap="square">
            <a:spAutoFit/>
          </a:bodyPr>
          <a:lstStyle/>
          <a:p>
            <a:pPr algn="ctr"/>
            <a:r>
              <a:rPr sz="1600" b="0">
                <a:solidFill>
                  <a:srgbClr val="028090"/>
                </a:solidFill>
                <a:latin typeface="Calibri"/>
              </a:rPr>
              <a: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80"/>
        <p:cNvGrpSpPr/>
        <p:nvPr/>
      </p:nvGrpSpPr>
      <p:grpSpPr>
        <a:xfrm>
          <a:off x="0" y="0"/>
          <a:ext cx="0" cy="0"/>
          <a:chOff x="0" y="0"/>
          <a:chExt cx="0" cy="0"/>
        </a:xfrm>
      </p:grpSpPr>
      <p:sp>
        <p:nvSpPr>
          <p:cNvPr id="81" name="Google Shape;81;p16"/>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b="1" sz="3000">
                <a:solidFill>
                  <a:srgbClr val="FFFFFF"/>
                </a:solidFill>
                <a:latin typeface="Calibri"/>
              </a:rPr>
              <a:t>Role of Agentic AI</a:t>
            </a:r>
            <a:endParaRPr/>
          </a:p>
        </p:txBody>
      </p:sp>
      <p:sp>
        <p:nvSpPr>
          <p:cNvPr id="82" name="Google Shape;82;p16"/>
          <p:cNvSpPr txBox="1">
            <a:spLocks noGrp="1"/>
          </p:cNvSpPr>
          <p:nvPr>
            <p:ph type="body" idx="1"/>
          </p:nvPr>
        </p:nvSpPr>
        <p:spPr>
          <a:xfrm>
            <a:off x="387900" y="1489824"/>
            <a:ext cx="8368200" cy="3078900"/>
          </a:xfrm>
          <a:prstGeom prst="rect">
            <a:avLst/>
          </a:prstGeom>
        </p:spPr>
        <p:txBody>
          <a:bodyPr spcFirstLastPara="1" wrap="square" lIns="91425" tIns="91425" rIns="91425" bIns="91425" anchor="t" anchorCtr="0">
            <a:normAutofit/>
          </a:bodyPr>
          <a:lstStyle/>
          <a:p>
            <a:pPr>
              <a:buNone/>
            </a:pPr>
          </a:p>
          <a:p>
            <a:pPr>
              <a:buFont typeface="Arial" panose="020B0604020202020204" pitchFamily="34" charset="0"/>
              <a:buChar char="•"/>
            </a:pPr>
            <a:r>
              <a:rPr lang="en-GB" dirty="0"/>
              <a:t/>
            </a:r>
          </a:p>
          <a:p>
            <a:pPr>
              <a:buFont typeface="Arial" panose="020B0604020202020204" pitchFamily="34" charset="0"/>
              <a:buChar char="•"/>
            </a:pPr>
            <a:r>
              <a:rPr lang="en-GB" dirty="0"/>
              <a:t/>
            </a:r>
          </a:p>
        </p:txBody>
      </p:sp>
      <p:sp>
        <p:nvSpPr>
          <p:cNvPr id="83" name="Rectangle 82"/>
          <p:cNvSpPr/>
          <p:nvPr/>
        </p:nvSpPr>
        <p:spPr>
          <a:xfrm>
            <a:off x="0" y="0"/>
            <a:ext cx="9144000" cy="100584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365760" y="1143000"/>
            <a:ext cx="3840480" cy="475488"/>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457200" y="1216152"/>
            <a:ext cx="3657600" cy="347472"/>
          </a:xfrm>
          <a:prstGeom prst="rect">
            <a:avLst/>
          </a:prstGeom>
          <a:noFill/>
        </p:spPr>
        <p:txBody>
          <a:bodyPr wrap="square">
            <a:spAutoFit/>
          </a:bodyPr>
          <a:lstStyle/>
          <a:p>
            <a:pPr algn="l"/>
            <a:r>
              <a:rPr sz="1400" b="1">
                <a:solidFill>
                  <a:srgbClr val="FFFFFF"/>
                </a:solidFill>
                <a:latin typeface="Calibri"/>
              </a:rPr>
              <a:t>🤖  AUTONOMOUS ACTIONS</a:t>
            </a:r>
          </a:p>
        </p:txBody>
      </p:sp>
      <p:sp>
        <p:nvSpPr>
          <p:cNvPr id="86" name="Rectangle 85"/>
          <p:cNvSpPr/>
          <p:nvPr/>
        </p:nvSpPr>
        <p:spPr>
          <a:xfrm>
            <a:off x="365760" y="1618488"/>
            <a:ext cx="3840480" cy="2907792"/>
          </a:xfrm>
          <a:prstGeom prst="rect">
            <a:avLst/>
          </a:prstGeom>
          <a:solidFill>
            <a:srgbClr val="F0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502920" y="1691640"/>
            <a:ext cx="3611880" cy="256032"/>
          </a:xfrm>
          <a:prstGeom prst="rect">
            <a:avLst/>
          </a:prstGeom>
          <a:noFill/>
        </p:spPr>
        <p:txBody>
          <a:bodyPr wrap="square">
            <a:spAutoFit/>
          </a:bodyPr>
          <a:lstStyle/>
          <a:p>
            <a:pPr algn="l"/>
            <a:r>
              <a:rPr sz="1150" b="1">
                <a:solidFill>
                  <a:srgbClr val="1E2761"/>
                </a:solidFill>
                <a:latin typeface="Calibri"/>
              </a:rPr>
              <a:t>✓  Daily Risk Scoring</a:t>
            </a:r>
          </a:p>
        </p:txBody>
      </p:sp>
      <p:sp>
        <p:nvSpPr>
          <p:cNvPr id="88" name="TextBox 87"/>
          <p:cNvSpPr txBox="1"/>
          <p:nvPr/>
        </p:nvSpPr>
        <p:spPr>
          <a:xfrm>
            <a:off x="640080" y="1929384"/>
            <a:ext cx="3474720" cy="256032"/>
          </a:xfrm>
          <a:prstGeom prst="rect">
            <a:avLst/>
          </a:prstGeom>
          <a:noFill/>
        </p:spPr>
        <p:txBody>
          <a:bodyPr wrap="square">
            <a:spAutoFit/>
          </a:bodyPr>
          <a:lstStyle/>
          <a:p>
            <a:pPr algn="l"/>
            <a:r>
              <a:rPr sz="1000" b="0">
                <a:solidFill>
                  <a:srgbClr val="1A1A2E"/>
                </a:solidFill>
                <a:latin typeface="Calibri"/>
              </a:rPr>
              <a:t>Model scores all 500+ customers every morning automatically</a:t>
            </a:r>
          </a:p>
        </p:txBody>
      </p:sp>
      <p:sp>
        <p:nvSpPr>
          <p:cNvPr id="89" name="TextBox 88"/>
          <p:cNvSpPr txBox="1"/>
          <p:nvPr/>
        </p:nvSpPr>
        <p:spPr>
          <a:xfrm>
            <a:off x="502920" y="2258568"/>
            <a:ext cx="3611880" cy="256032"/>
          </a:xfrm>
          <a:prstGeom prst="rect">
            <a:avLst/>
          </a:prstGeom>
          <a:noFill/>
        </p:spPr>
        <p:txBody>
          <a:bodyPr wrap="square">
            <a:spAutoFit/>
          </a:bodyPr>
          <a:lstStyle/>
          <a:p>
            <a:pPr algn="l"/>
            <a:r>
              <a:rPr sz="1150" b="1">
                <a:solidFill>
                  <a:srgbClr val="1E2761"/>
                </a:solidFill>
                <a:latin typeface="Calibri"/>
              </a:rPr>
              <a:t>✓  SMS Reminders</a:t>
            </a:r>
          </a:p>
        </p:txBody>
      </p:sp>
      <p:sp>
        <p:nvSpPr>
          <p:cNvPr id="90" name="TextBox 89"/>
          <p:cNvSpPr txBox="1"/>
          <p:nvPr/>
        </p:nvSpPr>
        <p:spPr>
          <a:xfrm>
            <a:off x="640080" y="2496312"/>
            <a:ext cx="3474720" cy="256032"/>
          </a:xfrm>
          <a:prstGeom prst="rect">
            <a:avLst/>
          </a:prstGeom>
          <a:noFill/>
        </p:spPr>
        <p:txBody>
          <a:bodyPr wrap="square">
            <a:spAutoFit/>
          </a:bodyPr>
          <a:lstStyle/>
          <a:p>
            <a:pPr algn="l"/>
            <a:r>
              <a:rPr sz="1000" b="0">
                <a:solidFill>
                  <a:srgbClr val="1A1A2E"/>
                </a:solidFill>
                <a:latin typeface="Calibri"/>
              </a:rPr>
              <a:t>Triggered for low-risk customers approaching payment due date</a:t>
            </a:r>
          </a:p>
        </p:txBody>
      </p:sp>
      <p:sp>
        <p:nvSpPr>
          <p:cNvPr id="91" name="TextBox 90"/>
          <p:cNvSpPr txBox="1"/>
          <p:nvPr/>
        </p:nvSpPr>
        <p:spPr>
          <a:xfrm>
            <a:off x="502920" y="2825496"/>
            <a:ext cx="3611880" cy="256032"/>
          </a:xfrm>
          <a:prstGeom prst="rect">
            <a:avLst/>
          </a:prstGeom>
          <a:noFill/>
        </p:spPr>
        <p:txBody>
          <a:bodyPr wrap="square">
            <a:spAutoFit/>
          </a:bodyPr>
          <a:lstStyle/>
          <a:p>
            <a:pPr algn="l"/>
            <a:r>
              <a:rPr sz="1150" b="1">
                <a:solidFill>
                  <a:srgbClr val="1E2761"/>
                </a:solidFill>
                <a:latin typeface="Calibri"/>
              </a:rPr>
              <a:t>✓  Outreach Prioritization</a:t>
            </a:r>
          </a:p>
        </p:txBody>
      </p:sp>
      <p:sp>
        <p:nvSpPr>
          <p:cNvPr id="92" name="TextBox 91"/>
          <p:cNvSpPr txBox="1"/>
          <p:nvPr/>
        </p:nvSpPr>
        <p:spPr>
          <a:xfrm>
            <a:off x="640080" y="3063240"/>
            <a:ext cx="3474720" cy="256032"/>
          </a:xfrm>
          <a:prstGeom prst="rect">
            <a:avLst/>
          </a:prstGeom>
          <a:noFill/>
        </p:spPr>
        <p:txBody>
          <a:bodyPr wrap="square">
            <a:spAutoFit/>
          </a:bodyPr>
          <a:lstStyle/>
          <a:p>
            <a:pPr algn="l"/>
            <a:r>
              <a:rPr sz="1000" b="0">
                <a:solidFill>
                  <a:srgbClr val="1A1A2E"/>
                </a:solidFill>
                <a:latin typeface="Calibri"/>
              </a:rPr>
              <a:t>High-risk list ranked and distributed to agents daily</a:t>
            </a:r>
          </a:p>
        </p:txBody>
      </p:sp>
      <p:sp>
        <p:nvSpPr>
          <p:cNvPr id="93" name="TextBox 92"/>
          <p:cNvSpPr txBox="1"/>
          <p:nvPr/>
        </p:nvSpPr>
        <p:spPr>
          <a:xfrm>
            <a:off x="502920" y="3392424"/>
            <a:ext cx="3611880" cy="256032"/>
          </a:xfrm>
          <a:prstGeom prst="rect">
            <a:avLst/>
          </a:prstGeom>
          <a:noFill/>
        </p:spPr>
        <p:txBody>
          <a:bodyPr wrap="square">
            <a:spAutoFit/>
          </a:bodyPr>
          <a:lstStyle/>
          <a:p>
            <a:pPr algn="l"/>
            <a:r>
              <a:rPr sz="1150" b="1">
                <a:solidFill>
                  <a:srgbClr val="1E2761"/>
                </a:solidFill>
                <a:latin typeface="Calibri"/>
              </a:rPr>
              <a:t>✓  Data Ingestion</a:t>
            </a:r>
          </a:p>
        </p:txBody>
      </p:sp>
      <p:sp>
        <p:nvSpPr>
          <p:cNvPr id="94" name="TextBox 93"/>
          <p:cNvSpPr txBox="1"/>
          <p:nvPr/>
        </p:nvSpPr>
        <p:spPr>
          <a:xfrm>
            <a:off x="640080" y="3630168"/>
            <a:ext cx="3474720" cy="256032"/>
          </a:xfrm>
          <a:prstGeom prst="rect">
            <a:avLst/>
          </a:prstGeom>
          <a:noFill/>
        </p:spPr>
        <p:txBody>
          <a:bodyPr wrap="square">
            <a:spAutoFit/>
          </a:bodyPr>
          <a:lstStyle/>
          <a:p>
            <a:pPr algn="l"/>
            <a:r>
              <a:rPr sz="1000" b="0">
                <a:solidFill>
                  <a:srgbClr val="1A1A2E"/>
                </a:solidFill>
                <a:latin typeface="Calibri"/>
              </a:rPr>
              <a:t>New payment records automatically update customer profiles</a:t>
            </a:r>
          </a:p>
        </p:txBody>
      </p:sp>
      <p:sp>
        <p:nvSpPr>
          <p:cNvPr id="95" name="TextBox 94"/>
          <p:cNvSpPr txBox="1"/>
          <p:nvPr/>
        </p:nvSpPr>
        <p:spPr>
          <a:xfrm>
            <a:off x="502920" y="3959352"/>
            <a:ext cx="3611880" cy="256032"/>
          </a:xfrm>
          <a:prstGeom prst="rect">
            <a:avLst/>
          </a:prstGeom>
          <a:noFill/>
        </p:spPr>
        <p:txBody>
          <a:bodyPr wrap="square">
            <a:spAutoFit/>
          </a:bodyPr>
          <a:lstStyle/>
          <a:p>
            <a:pPr algn="l"/>
            <a:r>
              <a:rPr sz="1150" b="1">
                <a:solidFill>
                  <a:srgbClr val="1E2761"/>
                </a:solidFill>
                <a:latin typeface="Calibri"/>
              </a:rPr>
              <a:t>✓  Performance Monitoring</a:t>
            </a:r>
          </a:p>
        </p:txBody>
      </p:sp>
      <p:sp>
        <p:nvSpPr>
          <p:cNvPr id="96" name="TextBox 95"/>
          <p:cNvSpPr txBox="1"/>
          <p:nvPr/>
        </p:nvSpPr>
        <p:spPr>
          <a:xfrm>
            <a:off x="640080" y="4197096"/>
            <a:ext cx="3474720" cy="256032"/>
          </a:xfrm>
          <a:prstGeom prst="rect">
            <a:avLst/>
          </a:prstGeom>
          <a:noFill/>
        </p:spPr>
        <p:txBody>
          <a:bodyPr wrap="square">
            <a:spAutoFit/>
          </a:bodyPr>
          <a:lstStyle/>
          <a:p>
            <a:pPr algn="l"/>
            <a:r>
              <a:rPr sz="1000" b="0">
                <a:solidFill>
                  <a:srgbClr val="1A1A2E"/>
                </a:solidFill>
                <a:latin typeface="Calibri"/>
              </a:rPr>
              <a:t>AUC-ROC and F1 scores tracked without manual intervention</a:t>
            </a:r>
          </a:p>
        </p:txBody>
      </p:sp>
      <p:sp>
        <p:nvSpPr>
          <p:cNvPr id="97" name="Rectangle 96"/>
          <p:cNvSpPr/>
          <p:nvPr/>
        </p:nvSpPr>
        <p:spPr>
          <a:xfrm>
            <a:off x="4526280" y="1143000"/>
            <a:ext cx="3840480" cy="475488"/>
          </a:xfrm>
          <a:prstGeom prst="rect">
            <a:avLst/>
          </a:prstGeom>
          <a:solidFill>
            <a:srgbClr val="028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4617720" y="1216152"/>
            <a:ext cx="3657600" cy="347472"/>
          </a:xfrm>
          <a:prstGeom prst="rect">
            <a:avLst/>
          </a:prstGeom>
          <a:noFill/>
        </p:spPr>
        <p:txBody>
          <a:bodyPr wrap="square">
            <a:spAutoFit/>
          </a:bodyPr>
          <a:lstStyle/>
          <a:p>
            <a:pPr algn="l"/>
            <a:r>
              <a:rPr sz="1400" b="1">
                <a:solidFill>
                  <a:srgbClr val="FFFFFF"/>
                </a:solidFill>
                <a:latin typeface="Calibri"/>
              </a:rPr>
              <a:t>👤  HUMAN OVERSIGHT</a:t>
            </a:r>
          </a:p>
        </p:txBody>
      </p:sp>
      <p:sp>
        <p:nvSpPr>
          <p:cNvPr id="99" name="Rectangle 98"/>
          <p:cNvSpPr/>
          <p:nvPr/>
        </p:nvSpPr>
        <p:spPr>
          <a:xfrm>
            <a:off x="4526280" y="1618488"/>
            <a:ext cx="3840480" cy="2907792"/>
          </a:xfrm>
          <a:prstGeom prst="rect">
            <a:avLst/>
          </a:prstGeom>
          <a:solidFill>
            <a:srgbClr val="F0FB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4663440" y="1691640"/>
            <a:ext cx="3611880" cy="256032"/>
          </a:xfrm>
          <a:prstGeom prst="rect">
            <a:avLst/>
          </a:prstGeom>
          <a:noFill/>
        </p:spPr>
        <p:txBody>
          <a:bodyPr wrap="square">
            <a:spAutoFit/>
          </a:bodyPr>
          <a:lstStyle/>
          <a:p>
            <a:pPr algn="l"/>
            <a:r>
              <a:rPr sz="1150" b="1">
                <a:solidFill>
                  <a:srgbClr val="028090"/>
                </a:solidFill>
                <a:latin typeface="Calibri"/>
              </a:rPr>
              <a:t>✓  High-Risk Decisions</a:t>
            </a:r>
          </a:p>
        </p:txBody>
      </p:sp>
      <p:sp>
        <p:nvSpPr>
          <p:cNvPr id="101" name="TextBox 100"/>
          <p:cNvSpPr txBox="1"/>
          <p:nvPr/>
        </p:nvSpPr>
        <p:spPr>
          <a:xfrm>
            <a:off x="4800600" y="1929384"/>
            <a:ext cx="3474720" cy="256032"/>
          </a:xfrm>
          <a:prstGeom prst="rect">
            <a:avLst/>
          </a:prstGeom>
          <a:noFill/>
        </p:spPr>
        <p:txBody>
          <a:bodyPr wrap="square">
            <a:spAutoFit/>
          </a:bodyPr>
          <a:lstStyle/>
          <a:p>
            <a:pPr algn="l"/>
            <a:r>
              <a:rPr sz="1000" b="0">
                <a:solidFill>
                  <a:srgbClr val="1A1A2E"/>
                </a:solidFill>
                <a:latin typeface="Calibri"/>
              </a:rPr>
              <a:t>Agent reviews every flag before contacting customer</a:t>
            </a:r>
          </a:p>
        </p:txBody>
      </p:sp>
      <p:sp>
        <p:nvSpPr>
          <p:cNvPr id="102" name="TextBox 101"/>
          <p:cNvSpPr txBox="1"/>
          <p:nvPr/>
        </p:nvSpPr>
        <p:spPr>
          <a:xfrm>
            <a:off x="4663440" y="2258568"/>
            <a:ext cx="3611880" cy="256032"/>
          </a:xfrm>
          <a:prstGeom prst="rect">
            <a:avLst/>
          </a:prstGeom>
          <a:noFill/>
        </p:spPr>
        <p:txBody>
          <a:bodyPr wrap="square">
            <a:spAutoFit/>
          </a:bodyPr>
          <a:lstStyle/>
          <a:p>
            <a:pPr algn="l"/>
            <a:r>
              <a:rPr sz="1150" b="1">
                <a:solidFill>
                  <a:srgbClr val="028090"/>
                </a:solidFill>
                <a:latin typeface="Calibri"/>
              </a:rPr>
              <a:t>✓  Payment Plan Negotiation</a:t>
            </a:r>
          </a:p>
        </p:txBody>
      </p:sp>
      <p:sp>
        <p:nvSpPr>
          <p:cNvPr id="103" name="TextBox 102"/>
          <p:cNvSpPr txBox="1"/>
          <p:nvPr/>
        </p:nvSpPr>
        <p:spPr>
          <a:xfrm>
            <a:off x="4800600" y="2496312"/>
            <a:ext cx="3474720" cy="256032"/>
          </a:xfrm>
          <a:prstGeom prst="rect">
            <a:avLst/>
          </a:prstGeom>
          <a:noFill/>
        </p:spPr>
        <p:txBody>
          <a:bodyPr wrap="square">
            <a:spAutoFit/>
          </a:bodyPr>
          <a:lstStyle/>
          <a:p>
            <a:pPr algn="l"/>
            <a:r>
              <a:rPr sz="1000" b="0">
                <a:solidFill>
                  <a:srgbClr val="1A1A2E"/>
                </a:solidFill>
                <a:latin typeface="Calibri"/>
              </a:rPr>
              <a:t>Customized offers require human judgment and empathy</a:t>
            </a:r>
          </a:p>
        </p:txBody>
      </p:sp>
      <p:sp>
        <p:nvSpPr>
          <p:cNvPr id="104" name="TextBox 103"/>
          <p:cNvSpPr txBox="1"/>
          <p:nvPr/>
        </p:nvSpPr>
        <p:spPr>
          <a:xfrm>
            <a:off x="4663440" y="2825496"/>
            <a:ext cx="3611880" cy="256032"/>
          </a:xfrm>
          <a:prstGeom prst="rect">
            <a:avLst/>
          </a:prstGeom>
          <a:noFill/>
        </p:spPr>
        <p:txBody>
          <a:bodyPr wrap="square">
            <a:spAutoFit/>
          </a:bodyPr>
          <a:lstStyle/>
          <a:p>
            <a:pPr algn="l"/>
            <a:r>
              <a:rPr sz="1150" b="1">
                <a:solidFill>
                  <a:srgbClr val="028090"/>
                </a:solidFill>
                <a:latin typeface="Calibri"/>
              </a:rPr>
              <a:t>✓  Bias &amp; Fairness Review</a:t>
            </a:r>
          </a:p>
        </p:txBody>
      </p:sp>
      <p:sp>
        <p:nvSpPr>
          <p:cNvPr id="105" name="TextBox 104"/>
          <p:cNvSpPr txBox="1"/>
          <p:nvPr/>
        </p:nvSpPr>
        <p:spPr>
          <a:xfrm>
            <a:off x="4800600" y="3063240"/>
            <a:ext cx="3474720" cy="256032"/>
          </a:xfrm>
          <a:prstGeom prst="rect">
            <a:avLst/>
          </a:prstGeom>
          <a:noFill/>
        </p:spPr>
        <p:txBody>
          <a:bodyPr wrap="square">
            <a:spAutoFit/>
          </a:bodyPr>
          <a:lstStyle/>
          <a:p>
            <a:pPr algn="l"/>
            <a:r>
              <a:rPr sz="1000" b="0">
                <a:solidFill>
                  <a:srgbClr val="1A1A2E"/>
                </a:solidFill>
                <a:latin typeface="Calibri"/>
              </a:rPr>
              <a:t>Monthly audit by compliance team across all segments</a:t>
            </a:r>
          </a:p>
        </p:txBody>
      </p:sp>
      <p:sp>
        <p:nvSpPr>
          <p:cNvPr id="106" name="TextBox 105"/>
          <p:cNvSpPr txBox="1"/>
          <p:nvPr/>
        </p:nvSpPr>
        <p:spPr>
          <a:xfrm>
            <a:off x="4663440" y="3392424"/>
            <a:ext cx="3611880" cy="256032"/>
          </a:xfrm>
          <a:prstGeom prst="rect">
            <a:avLst/>
          </a:prstGeom>
          <a:noFill/>
        </p:spPr>
        <p:txBody>
          <a:bodyPr wrap="square">
            <a:spAutoFit/>
          </a:bodyPr>
          <a:lstStyle/>
          <a:p>
            <a:pPr algn="l"/>
            <a:r>
              <a:rPr sz="1150" b="1">
                <a:solidFill>
                  <a:srgbClr val="028090"/>
                </a:solidFill>
                <a:latin typeface="Calibri"/>
              </a:rPr>
              <a:t>✓  Model Retraining Approval</a:t>
            </a:r>
          </a:p>
        </p:txBody>
      </p:sp>
      <p:sp>
        <p:nvSpPr>
          <p:cNvPr id="107" name="TextBox 106"/>
          <p:cNvSpPr txBox="1"/>
          <p:nvPr/>
        </p:nvSpPr>
        <p:spPr>
          <a:xfrm>
            <a:off x="4800600" y="3630168"/>
            <a:ext cx="3474720" cy="256032"/>
          </a:xfrm>
          <a:prstGeom prst="rect">
            <a:avLst/>
          </a:prstGeom>
          <a:noFill/>
        </p:spPr>
        <p:txBody>
          <a:bodyPr wrap="square">
            <a:spAutoFit/>
          </a:bodyPr>
          <a:lstStyle/>
          <a:p>
            <a:pPr algn="l"/>
            <a:r>
              <a:rPr sz="1000" b="0">
                <a:solidFill>
                  <a:srgbClr val="1A1A2E"/>
                </a:solidFill>
                <a:latin typeface="Calibri"/>
              </a:rPr>
              <a:t>Data science team validates before deploying updates</a:t>
            </a:r>
          </a:p>
        </p:txBody>
      </p:sp>
      <p:sp>
        <p:nvSpPr>
          <p:cNvPr id="108" name="TextBox 107"/>
          <p:cNvSpPr txBox="1"/>
          <p:nvPr/>
        </p:nvSpPr>
        <p:spPr>
          <a:xfrm>
            <a:off x="4663440" y="3959352"/>
            <a:ext cx="3611880" cy="256032"/>
          </a:xfrm>
          <a:prstGeom prst="rect">
            <a:avLst/>
          </a:prstGeom>
          <a:noFill/>
        </p:spPr>
        <p:txBody>
          <a:bodyPr wrap="square">
            <a:spAutoFit/>
          </a:bodyPr>
          <a:lstStyle/>
          <a:p>
            <a:pPr algn="l"/>
            <a:r>
              <a:rPr sz="1150" b="1">
                <a:solidFill>
                  <a:srgbClr val="028090"/>
                </a:solidFill>
                <a:latin typeface="Calibri"/>
              </a:rPr>
              <a:t>✓  Escalation Handling</a:t>
            </a:r>
          </a:p>
        </p:txBody>
      </p:sp>
      <p:sp>
        <p:nvSpPr>
          <p:cNvPr id="109" name="TextBox 108"/>
          <p:cNvSpPr txBox="1"/>
          <p:nvPr/>
        </p:nvSpPr>
        <p:spPr>
          <a:xfrm>
            <a:off x="4800600" y="4197096"/>
            <a:ext cx="3474720" cy="256032"/>
          </a:xfrm>
          <a:prstGeom prst="rect">
            <a:avLst/>
          </a:prstGeom>
          <a:noFill/>
        </p:spPr>
        <p:txBody>
          <a:bodyPr wrap="square">
            <a:spAutoFit/>
          </a:bodyPr>
          <a:lstStyle/>
          <a:p>
            <a:pPr algn="l"/>
            <a:r>
              <a:rPr sz="1000" b="0">
                <a:solidFill>
                  <a:srgbClr val="1A1A2E"/>
                </a:solidFill>
                <a:latin typeface="Calibri"/>
              </a:rPr>
              <a:t>Critical cases managed by senior collections officer</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Shape 87"/>
        <p:cNvGrpSpPr/>
        <p:nvPr/>
      </p:nvGrpSpPr>
      <p:grpSpPr>
        <a:xfrm>
          <a:off x="0" y="0"/>
          <a:ext cx="0" cy="0"/>
          <a:chOff x="0" y="0"/>
          <a:chExt cx="0" cy="0"/>
        </a:xfrm>
      </p:grpSpPr>
      <p:sp>
        <p:nvSpPr>
          <p:cNvPr id="88" name="Google Shape;88;p17"/>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b="1" sz="3000">
                <a:solidFill>
                  <a:srgbClr val="FFFFFF"/>
                </a:solidFill>
                <a:latin typeface="Calibri"/>
              </a:rPr>
              <a:t>Responsible AI Guardrails</a:t>
            </a:r>
            <a:endParaRPr/>
          </a:p>
        </p:txBody>
      </p:sp>
      <p:sp>
        <p:nvSpPr>
          <p:cNvPr id="89" name="Google Shape;89;p17"/>
          <p:cNvSpPr txBox="1">
            <a:spLocks noGrp="1"/>
          </p:cNvSpPr>
          <p:nvPr>
            <p:ph type="body" idx="1"/>
          </p:nvPr>
        </p:nvSpPr>
        <p:spPr>
          <a:xfrm>
            <a:off x="387900" y="1489824"/>
            <a:ext cx="8368200" cy="3078900"/>
          </a:xfrm>
          <a:prstGeom prst="rect">
            <a:avLst/>
          </a:prstGeom>
        </p:spPr>
        <p:txBody>
          <a:bodyPr spcFirstLastPara="1" wrap="square" lIns="91425" tIns="91425" rIns="91425" bIns="91425" anchor="t" anchorCtr="0">
            <a:noAutofit/>
          </a:bodyPr>
          <a:lstStyle/>
          <a:p>
            <a:pPr>
              <a:buNone/>
            </a:pPr>
          </a:p>
          <a:p>
            <a:pPr>
              <a:buFont typeface="Arial" panose="020B0604020202020204" pitchFamily="34" charset="0"/>
              <a:buChar char="•"/>
            </a:pPr>
            <a:r>
              <a:rPr lang="en-GB" sz="1600" dirty="0"/>
              <a:t/>
            </a:r>
          </a:p>
          <a:p>
            <a:pPr>
              <a:buFont typeface="Arial" panose="020B0604020202020204" pitchFamily="34" charset="0"/>
              <a:buChar char="•"/>
            </a:pPr>
            <a:r>
              <a:rPr lang="en-GB" sz="1600" dirty="0"/>
              <a:t/>
            </a:r>
          </a:p>
          <a:p>
            <a:pPr>
              <a:buFont typeface="Arial" panose="020B0604020202020204" pitchFamily="34" charset="0"/>
              <a:buChar char="•"/>
            </a:pPr>
            <a:r>
              <a:rPr lang="en-GB" sz="1600" dirty="0"/>
              <a:t/>
            </a:r>
          </a:p>
          <a:p>
            <a:pPr>
              <a:buFont typeface="Arial" panose="020B0604020202020204" pitchFamily="34" charset="0"/>
              <a:buChar char="•"/>
            </a:pPr>
            <a:r>
              <a:rPr lang="en-GB" sz="1600" dirty="0"/>
              <a:t/>
            </a:r>
          </a:p>
        </p:txBody>
      </p:sp>
      <p:sp>
        <p:nvSpPr>
          <p:cNvPr id="90" name="Rectangle 89"/>
          <p:cNvSpPr/>
          <p:nvPr/>
        </p:nvSpPr>
        <p:spPr>
          <a:xfrm>
            <a:off x="274320" y="1097280"/>
            <a:ext cx="3886200" cy="1508760"/>
          </a:xfrm>
          <a:prstGeom prst="rect">
            <a:avLst/>
          </a:prstGeom>
          <a:solidFill>
            <a:srgbClr val="2A357A"/>
          </a:solidFill>
          <a:ln w="12700">
            <a:solidFill>
              <a:srgbClr val="02809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384048" y="1188720"/>
            <a:ext cx="457200" cy="411480"/>
          </a:xfrm>
          <a:prstGeom prst="rect">
            <a:avLst/>
          </a:prstGeom>
          <a:noFill/>
        </p:spPr>
        <p:txBody>
          <a:bodyPr wrap="square">
            <a:spAutoFit/>
          </a:bodyPr>
          <a:lstStyle/>
          <a:p>
            <a:pPr algn="ctr"/>
            <a:r>
              <a:rPr sz="2200" b="0">
                <a:solidFill>
                  <a:srgbClr val="FFFFFF"/>
                </a:solidFill>
                <a:latin typeface="Calibri"/>
              </a:rPr>
              <a:t>⚖️</a:t>
            </a:r>
          </a:p>
        </p:txBody>
      </p:sp>
      <p:sp>
        <p:nvSpPr>
          <p:cNvPr id="92" name="TextBox 91"/>
          <p:cNvSpPr txBox="1"/>
          <p:nvPr/>
        </p:nvSpPr>
        <p:spPr>
          <a:xfrm>
            <a:off x="868680" y="1188720"/>
            <a:ext cx="3200400" cy="320040"/>
          </a:xfrm>
          <a:prstGeom prst="rect">
            <a:avLst/>
          </a:prstGeom>
          <a:noFill/>
        </p:spPr>
        <p:txBody>
          <a:bodyPr wrap="square">
            <a:spAutoFit/>
          </a:bodyPr>
          <a:lstStyle/>
          <a:p>
            <a:pPr algn="l"/>
            <a:r>
              <a:rPr sz="1300" b="1">
                <a:solidFill>
                  <a:srgbClr val="CADCFC"/>
                </a:solidFill>
                <a:latin typeface="Calibri"/>
              </a:rPr>
              <a:t>Fairness &amp; Bias Prevention</a:t>
            </a:r>
          </a:p>
        </p:txBody>
      </p:sp>
      <p:sp>
        <p:nvSpPr>
          <p:cNvPr id="93" name="TextBox 92"/>
          <p:cNvSpPr txBox="1"/>
          <p:nvPr/>
        </p:nvSpPr>
        <p:spPr>
          <a:xfrm>
            <a:off x="384048" y="1600200"/>
            <a:ext cx="3666744" cy="914400"/>
          </a:xfrm>
          <a:prstGeom prst="rect">
            <a:avLst/>
          </a:prstGeom>
          <a:noFill/>
        </p:spPr>
        <p:txBody>
          <a:bodyPr wrap="square">
            <a:spAutoFit/>
          </a:bodyPr>
          <a:lstStyle/>
          <a:p>
            <a:pPr algn="l"/>
            <a:r>
              <a:rPr sz="1000" b="0">
                <a:solidFill>
                  <a:srgbClr val="FFFFFF"/>
                </a:solidFill>
                <a:latin typeface="Calibri"/>
              </a:rPr>
              <a:t>Disparate Impact Analysis run monthly across Age, Location, and Employment segments. Income excluded as standalone predictor after EDA revealed counter-intuitive patterns. Behavioral features (Missed Payments, payment history) prioritized over demographic proxies.</a:t>
            </a:r>
          </a:p>
        </p:txBody>
      </p:sp>
      <p:sp>
        <p:nvSpPr>
          <p:cNvPr id="94" name="Rectangle 93"/>
          <p:cNvSpPr/>
          <p:nvPr/>
        </p:nvSpPr>
        <p:spPr>
          <a:xfrm>
            <a:off x="4297680" y="1097280"/>
            <a:ext cx="3886200" cy="1508760"/>
          </a:xfrm>
          <a:prstGeom prst="rect">
            <a:avLst/>
          </a:prstGeom>
          <a:solidFill>
            <a:srgbClr val="2A357A"/>
          </a:solidFill>
          <a:ln w="12700">
            <a:solidFill>
              <a:srgbClr val="02809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4407408" y="1188720"/>
            <a:ext cx="457200" cy="411480"/>
          </a:xfrm>
          <a:prstGeom prst="rect">
            <a:avLst/>
          </a:prstGeom>
          <a:noFill/>
        </p:spPr>
        <p:txBody>
          <a:bodyPr wrap="square">
            <a:spAutoFit/>
          </a:bodyPr>
          <a:lstStyle/>
          <a:p>
            <a:pPr algn="ctr"/>
            <a:r>
              <a:rPr sz="2200" b="0">
                <a:solidFill>
                  <a:srgbClr val="FFFFFF"/>
                </a:solidFill>
                <a:latin typeface="Calibri"/>
              </a:rPr>
              <a:t>🔍</a:t>
            </a:r>
          </a:p>
        </p:txBody>
      </p:sp>
      <p:sp>
        <p:nvSpPr>
          <p:cNvPr id="96" name="TextBox 95"/>
          <p:cNvSpPr txBox="1"/>
          <p:nvPr/>
        </p:nvSpPr>
        <p:spPr>
          <a:xfrm>
            <a:off x="4892040" y="1188720"/>
            <a:ext cx="3200400" cy="320040"/>
          </a:xfrm>
          <a:prstGeom prst="rect">
            <a:avLst/>
          </a:prstGeom>
          <a:noFill/>
        </p:spPr>
        <p:txBody>
          <a:bodyPr wrap="square">
            <a:spAutoFit/>
          </a:bodyPr>
          <a:lstStyle/>
          <a:p>
            <a:pPr algn="l"/>
            <a:r>
              <a:rPr sz="1300" b="1">
                <a:solidFill>
                  <a:srgbClr val="CADCFC"/>
                </a:solidFill>
                <a:latin typeface="Calibri"/>
              </a:rPr>
              <a:t>Explainability &amp; Transparency</a:t>
            </a:r>
          </a:p>
        </p:txBody>
      </p:sp>
      <p:sp>
        <p:nvSpPr>
          <p:cNvPr id="97" name="TextBox 96"/>
          <p:cNvSpPr txBox="1"/>
          <p:nvPr/>
        </p:nvSpPr>
        <p:spPr>
          <a:xfrm>
            <a:off x="4407408" y="1600200"/>
            <a:ext cx="3666744" cy="914400"/>
          </a:xfrm>
          <a:prstGeom prst="rect">
            <a:avLst/>
          </a:prstGeom>
          <a:noFill/>
        </p:spPr>
        <p:txBody>
          <a:bodyPr wrap="square">
            <a:spAutoFit/>
          </a:bodyPr>
          <a:lstStyle/>
          <a:p>
            <a:pPr algn="l"/>
            <a:r>
              <a:rPr sz="1000" b="0">
                <a:solidFill>
                  <a:srgbClr val="FFFFFF"/>
                </a:solidFill>
                <a:latin typeface="Calibri"/>
              </a:rPr>
              <a:t>Random Forest feature importance scores trace every prediction to specific data points. Collections agents receive plain-language explanations: e.g. 'Flagged due to 3 missed payments and 42% Debt-to-Income Ratio.' Customers notified with clear reasoning for any action taken.</a:t>
            </a:r>
          </a:p>
        </p:txBody>
      </p:sp>
      <p:sp>
        <p:nvSpPr>
          <p:cNvPr id="98" name="Rectangle 97"/>
          <p:cNvSpPr/>
          <p:nvPr/>
        </p:nvSpPr>
        <p:spPr>
          <a:xfrm>
            <a:off x="274320" y="2743200"/>
            <a:ext cx="3886200" cy="1508760"/>
          </a:xfrm>
          <a:prstGeom prst="rect">
            <a:avLst/>
          </a:prstGeom>
          <a:solidFill>
            <a:srgbClr val="2A357A"/>
          </a:solidFill>
          <a:ln w="12700">
            <a:solidFill>
              <a:srgbClr val="02809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384048" y="2834640"/>
            <a:ext cx="457200" cy="411480"/>
          </a:xfrm>
          <a:prstGeom prst="rect">
            <a:avLst/>
          </a:prstGeom>
          <a:noFill/>
        </p:spPr>
        <p:txBody>
          <a:bodyPr wrap="square">
            <a:spAutoFit/>
          </a:bodyPr>
          <a:lstStyle/>
          <a:p>
            <a:pPr algn="ctr"/>
            <a:r>
              <a:rPr sz="2200" b="0">
                <a:solidFill>
                  <a:srgbClr val="FFFFFF"/>
                </a:solidFill>
                <a:latin typeface="Calibri"/>
              </a:rPr>
              <a:t>🛡️</a:t>
            </a:r>
          </a:p>
        </p:txBody>
      </p:sp>
      <p:sp>
        <p:nvSpPr>
          <p:cNvPr id="100" name="TextBox 99"/>
          <p:cNvSpPr txBox="1"/>
          <p:nvPr/>
        </p:nvSpPr>
        <p:spPr>
          <a:xfrm>
            <a:off x="868680" y="2834640"/>
            <a:ext cx="3200400" cy="320040"/>
          </a:xfrm>
          <a:prstGeom prst="rect">
            <a:avLst/>
          </a:prstGeom>
          <a:noFill/>
        </p:spPr>
        <p:txBody>
          <a:bodyPr wrap="square">
            <a:spAutoFit/>
          </a:bodyPr>
          <a:lstStyle/>
          <a:p>
            <a:pPr algn="l"/>
            <a:r>
              <a:rPr sz="1300" b="1">
                <a:solidFill>
                  <a:srgbClr val="CADCFC"/>
                </a:solidFill>
                <a:latin typeface="Calibri"/>
              </a:rPr>
              <a:t>Regulatory Compliance</a:t>
            </a:r>
          </a:p>
        </p:txBody>
      </p:sp>
      <p:sp>
        <p:nvSpPr>
          <p:cNvPr id="101" name="TextBox 100"/>
          <p:cNvSpPr txBox="1"/>
          <p:nvPr/>
        </p:nvSpPr>
        <p:spPr>
          <a:xfrm>
            <a:off x="384048" y="3246120"/>
            <a:ext cx="3666744" cy="914400"/>
          </a:xfrm>
          <a:prstGeom prst="rect">
            <a:avLst/>
          </a:prstGeom>
          <a:noFill/>
        </p:spPr>
        <p:txBody>
          <a:bodyPr wrap="square">
            <a:spAutoFit/>
          </a:bodyPr>
          <a:lstStyle/>
          <a:p>
            <a:pPr algn="l"/>
            <a:r>
              <a:rPr sz="1000" b="0">
                <a:solidFill>
                  <a:srgbClr val="FFFFFF"/>
                </a:solidFill>
                <a:latin typeface="Calibri"/>
              </a:rPr>
              <a:t>All high-impact decisions subject to human review before execution. Model decisions documented and auditable to comply with GDPR data privacy requirements and Equal Credit Opportunity Act (ECOA) standards. No sensitive data shared with external AI tools.</a:t>
            </a:r>
          </a:p>
        </p:txBody>
      </p:sp>
      <p:sp>
        <p:nvSpPr>
          <p:cNvPr id="102" name="Rectangle 101"/>
          <p:cNvSpPr/>
          <p:nvPr/>
        </p:nvSpPr>
        <p:spPr>
          <a:xfrm>
            <a:off x="4297680" y="2743200"/>
            <a:ext cx="3886200" cy="1508760"/>
          </a:xfrm>
          <a:prstGeom prst="rect">
            <a:avLst/>
          </a:prstGeom>
          <a:solidFill>
            <a:srgbClr val="2A357A"/>
          </a:solidFill>
          <a:ln w="12700">
            <a:solidFill>
              <a:srgbClr val="02809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4407408" y="2834640"/>
            <a:ext cx="457200" cy="411480"/>
          </a:xfrm>
          <a:prstGeom prst="rect">
            <a:avLst/>
          </a:prstGeom>
          <a:noFill/>
        </p:spPr>
        <p:txBody>
          <a:bodyPr wrap="square">
            <a:spAutoFit/>
          </a:bodyPr>
          <a:lstStyle/>
          <a:p>
            <a:pPr algn="ctr"/>
            <a:r>
              <a:rPr sz="2200" b="0">
                <a:solidFill>
                  <a:srgbClr val="FFFFFF"/>
                </a:solidFill>
                <a:latin typeface="Calibri"/>
              </a:rPr>
              <a:t>🔄</a:t>
            </a:r>
          </a:p>
        </p:txBody>
      </p:sp>
      <p:sp>
        <p:nvSpPr>
          <p:cNvPr id="104" name="TextBox 103"/>
          <p:cNvSpPr txBox="1"/>
          <p:nvPr/>
        </p:nvSpPr>
        <p:spPr>
          <a:xfrm>
            <a:off x="4892040" y="2834640"/>
            <a:ext cx="3200400" cy="320040"/>
          </a:xfrm>
          <a:prstGeom prst="rect">
            <a:avLst/>
          </a:prstGeom>
          <a:noFill/>
        </p:spPr>
        <p:txBody>
          <a:bodyPr wrap="square">
            <a:spAutoFit/>
          </a:bodyPr>
          <a:lstStyle/>
          <a:p>
            <a:pPr algn="l"/>
            <a:r>
              <a:rPr sz="1300" b="1">
                <a:solidFill>
                  <a:srgbClr val="CADCFC"/>
                </a:solidFill>
                <a:latin typeface="Calibri"/>
              </a:rPr>
              <a:t>Continuous Monitoring &amp; Accountability</a:t>
            </a:r>
          </a:p>
        </p:txBody>
      </p:sp>
      <p:sp>
        <p:nvSpPr>
          <p:cNvPr id="105" name="TextBox 104"/>
          <p:cNvSpPr txBox="1"/>
          <p:nvPr/>
        </p:nvSpPr>
        <p:spPr>
          <a:xfrm>
            <a:off x="4407408" y="3246120"/>
            <a:ext cx="3666744" cy="914400"/>
          </a:xfrm>
          <a:prstGeom prst="rect">
            <a:avLst/>
          </a:prstGeom>
          <a:noFill/>
        </p:spPr>
        <p:txBody>
          <a:bodyPr wrap="square">
            <a:spAutoFit/>
          </a:bodyPr>
          <a:lstStyle/>
          <a:p>
            <a:pPr algn="l"/>
            <a:r>
              <a:rPr sz="1000" b="0">
                <a:solidFill>
                  <a:srgbClr val="FFFFFF"/>
                </a:solidFill>
                <a:latin typeface="Calibri"/>
              </a:rPr>
              <a:t>AUC-ROC threshold: model flagged for retraining if score drops below 0.75. F1 Score monitored weekly. Designated accountability owner (Senior Manager) responsible for model performance and ethical compliance reporting.</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3"/>
        <p:cNvGrpSpPr/>
        <p:nvPr/>
      </p:nvGrpSpPr>
      <p:grpSpPr>
        <a:xfrm>
          <a:off x="0" y="0"/>
          <a:ext cx="0" cy="0"/>
          <a:chOff x="0" y="0"/>
          <a:chExt cx="0" cy="0"/>
        </a:xfrm>
      </p:grpSpPr>
      <p:sp>
        <p:nvSpPr>
          <p:cNvPr id="94" name="Google Shape;94;p18"/>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b="1" sz="3000">
                <a:solidFill>
                  <a:srgbClr val="FFFFFF"/>
                </a:solidFill>
                <a:latin typeface="Calibri"/>
              </a:rPr>
              <a:t>Expected Business Impact</a:t>
            </a:r>
            <a:endParaRPr/>
          </a:p>
        </p:txBody>
      </p:sp>
      <p:sp>
        <p:nvSpPr>
          <p:cNvPr id="95" name="Google Shape;95;p18"/>
          <p:cNvSpPr txBox="1">
            <a:spLocks noGrp="1"/>
          </p:cNvSpPr>
          <p:nvPr>
            <p:ph type="body" idx="1"/>
          </p:nvPr>
        </p:nvSpPr>
        <p:spPr>
          <a:xfrm>
            <a:off x="387900" y="1489824"/>
            <a:ext cx="8368200" cy="3078900"/>
          </a:xfrm>
          <a:prstGeom prst="rect">
            <a:avLst/>
          </a:prstGeom>
        </p:spPr>
        <p:txBody>
          <a:bodyPr spcFirstLastPara="1" wrap="square" lIns="91425" tIns="91425" rIns="91425" bIns="91425" anchor="t" anchorCtr="0">
            <a:noAutofit/>
          </a:bodyPr>
          <a:lstStyle/>
          <a:p>
            <a:pPr>
              <a:buNone/>
            </a:pPr>
          </a:p>
          <a:p>
            <a:pPr>
              <a:buFont typeface="Arial" panose="020B0604020202020204" pitchFamily="34" charset="0"/>
              <a:buChar char="•"/>
            </a:pPr>
            <a:r>
              <a:rPr lang="en-GB" sz="1600" b="1" dirty="0"/>
              <a:t/>
            </a:r>
            <a:r>
              <a:rPr lang="en-GB" sz="1600" dirty="0"/>
              <a:t/>
            </a:r>
          </a:p>
          <a:p>
            <a:pPr>
              <a:buFont typeface="Arial" panose="020B0604020202020204" pitchFamily="34" charset="0"/>
              <a:buChar char="•"/>
            </a:pPr>
            <a:r>
              <a:rPr lang="en-GB" sz="1600" b="1" dirty="0"/>
              <a:t/>
            </a:r>
            <a:r>
              <a:rPr lang="en-GB" sz="1600" dirty="0"/>
              <a:t/>
            </a:r>
          </a:p>
        </p:txBody>
      </p:sp>
      <p:sp>
        <p:nvSpPr>
          <p:cNvPr id="96" name="Rectangle 95"/>
          <p:cNvSpPr/>
          <p:nvPr/>
        </p:nvSpPr>
        <p:spPr>
          <a:xfrm>
            <a:off x="0" y="0"/>
            <a:ext cx="9144000" cy="100584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Rectangle 96"/>
          <p:cNvSpPr/>
          <p:nvPr/>
        </p:nvSpPr>
        <p:spPr>
          <a:xfrm>
            <a:off x="274320" y="1097280"/>
            <a:ext cx="1920240" cy="128016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274320" y="1170432"/>
            <a:ext cx="1920240" cy="548640"/>
          </a:xfrm>
          <a:prstGeom prst="rect">
            <a:avLst/>
          </a:prstGeom>
          <a:noFill/>
        </p:spPr>
        <p:txBody>
          <a:bodyPr wrap="square">
            <a:spAutoFit/>
          </a:bodyPr>
          <a:lstStyle/>
          <a:p>
            <a:pPr algn="ctr"/>
            <a:r>
              <a:rPr sz="2800" b="1">
                <a:solidFill>
                  <a:srgbClr val="FFFFFF"/>
                </a:solidFill>
                <a:latin typeface="Calibri"/>
              </a:rPr>
              <a:t>10%</a:t>
            </a:r>
          </a:p>
        </p:txBody>
      </p:sp>
      <p:sp>
        <p:nvSpPr>
          <p:cNvPr id="99" name="TextBox 98"/>
          <p:cNvSpPr txBox="1"/>
          <p:nvPr/>
        </p:nvSpPr>
        <p:spPr>
          <a:xfrm>
            <a:off x="274320" y="1719072"/>
            <a:ext cx="1920240" cy="594360"/>
          </a:xfrm>
          <a:prstGeom prst="rect">
            <a:avLst/>
          </a:prstGeom>
          <a:noFill/>
        </p:spPr>
        <p:txBody>
          <a:bodyPr wrap="square">
            <a:spAutoFit/>
          </a:bodyPr>
          <a:lstStyle/>
          <a:p>
            <a:pPr algn="ctr"/>
            <a:r>
              <a:rPr sz="950" b="0">
                <a:solidFill>
                  <a:srgbClr val="FFFFFF"/>
                </a:solidFill>
                <a:latin typeface="Calibri"/>
              </a:rPr>
              <a:t>Reduction in
30-day delinquency
(6-week pilot target)</a:t>
            </a:r>
          </a:p>
        </p:txBody>
      </p:sp>
      <p:sp>
        <p:nvSpPr>
          <p:cNvPr id="100" name="Rectangle 99"/>
          <p:cNvSpPr/>
          <p:nvPr/>
        </p:nvSpPr>
        <p:spPr>
          <a:xfrm>
            <a:off x="2286000" y="1097280"/>
            <a:ext cx="1920240" cy="1280160"/>
          </a:xfrm>
          <a:prstGeom prst="rect">
            <a:avLst/>
          </a:prstGeom>
          <a:solidFill>
            <a:srgbClr val="028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2286000" y="1170432"/>
            <a:ext cx="1920240" cy="548640"/>
          </a:xfrm>
          <a:prstGeom prst="rect">
            <a:avLst/>
          </a:prstGeom>
          <a:noFill/>
        </p:spPr>
        <p:txBody>
          <a:bodyPr wrap="square">
            <a:spAutoFit/>
          </a:bodyPr>
          <a:lstStyle/>
          <a:p>
            <a:pPr algn="ctr"/>
            <a:r>
              <a:rPr sz="2800" b="1">
                <a:solidFill>
                  <a:srgbClr val="FFFFFF"/>
                </a:solidFill>
                <a:latin typeface="Calibri"/>
              </a:rPr>
              <a:t>20%</a:t>
            </a:r>
          </a:p>
        </p:txBody>
      </p:sp>
      <p:sp>
        <p:nvSpPr>
          <p:cNvPr id="102" name="TextBox 101"/>
          <p:cNvSpPr txBox="1"/>
          <p:nvPr/>
        </p:nvSpPr>
        <p:spPr>
          <a:xfrm>
            <a:off x="2286000" y="1719072"/>
            <a:ext cx="1920240" cy="594360"/>
          </a:xfrm>
          <a:prstGeom prst="rect">
            <a:avLst/>
          </a:prstGeom>
          <a:noFill/>
        </p:spPr>
        <p:txBody>
          <a:bodyPr wrap="square">
            <a:spAutoFit/>
          </a:bodyPr>
          <a:lstStyle/>
          <a:p>
            <a:pPr algn="ctr"/>
            <a:r>
              <a:rPr sz="950" b="0">
                <a:solidFill>
                  <a:srgbClr val="FFFFFF"/>
                </a:solidFill>
                <a:latin typeface="Calibri"/>
              </a:rPr>
              <a:t>Top high-risk customers
prioritized daily
for outreach</a:t>
            </a:r>
          </a:p>
        </p:txBody>
      </p:sp>
      <p:sp>
        <p:nvSpPr>
          <p:cNvPr id="103" name="Rectangle 102"/>
          <p:cNvSpPr/>
          <p:nvPr/>
        </p:nvSpPr>
        <p:spPr>
          <a:xfrm>
            <a:off x="4297680" y="1097280"/>
            <a:ext cx="1920240" cy="128016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4297680" y="1170432"/>
            <a:ext cx="1920240" cy="548640"/>
          </a:xfrm>
          <a:prstGeom prst="rect">
            <a:avLst/>
          </a:prstGeom>
          <a:noFill/>
        </p:spPr>
        <p:txBody>
          <a:bodyPr wrap="square">
            <a:spAutoFit/>
          </a:bodyPr>
          <a:lstStyle/>
          <a:p>
            <a:pPr algn="ctr"/>
            <a:r>
              <a:rPr sz="2800" b="1">
                <a:solidFill>
                  <a:srgbClr val="FFFFFF"/>
                </a:solidFill>
                <a:latin typeface="Calibri"/>
              </a:rPr>
              <a:t>↓30%</a:t>
            </a:r>
          </a:p>
        </p:txBody>
      </p:sp>
      <p:sp>
        <p:nvSpPr>
          <p:cNvPr id="105" name="TextBox 104"/>
          <p:cNvSpPr txBox="1"/>
          <p:nvPr/>
        </p:nvSpPr>
        <p:spPr>
          <a:xfrm>
            <a:off x="4297680" y="1719072"/>
            <a:ext cx="1920240" cy="594360"/>
          </a:xfrm>
          <a:prstGeom prst="rect">
            <a:avLst/>
          </a:prstGeom>
          <a:noFill/>
        </p:spPr>
        <p:txBody>
          <a:bodyPr wrap="square">
            <a:spAutoFit/>
          </a:bodyPr>
          <a:lstStyle/>
          <a:p>
            <a:pPr algn="ctr"/>
            <a:r>
              <a:rPr sz="950" b="0">
                <a:solidFill>
                  <a:srgbClr val="FFFFFF"/>
                </a:solidFill>
                <a:latin typeface="Calibri"/>
              </a:rPr>
              <a:t>Reduction in
unnecessary customer
contacts</a:t>
            </a:r>
          </a:p>
        </p:txBody>
      </p:sp>
      <p:sp>
        <p:nvSpPr>
          <p:cNvPr id="106" name="Rectangle 105"/>
          <p:cNvSpPr/>
          <p:nvPr/>
        </p:nvSpPr>
        <p:spPr>
          <a:xfrm>
            <a:off x="6309360" y="1097280"/>
            <a:ext cx="1920240" cy="1280160"/>
          </a:xfrm>
          <a:prstGeom prst="rect">
            <a:avLst/>
          </a:prstGeom>
          <a:solidFill>
            <a:srgbClr val="028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6309360" y="1170432"/>
            <a:ext cx="1920240" cy="548640"/>
          </a:xfrm>
          <a:prstGeom prst="rect">
            <a:avLst/>
          </a:prstGeom>
          <a:noFill/>
        </p:spPr>
        <p:txBody>
          <a:bodyPr wrap="square">
            <a:spAutoFit/>
          </a:bodyPr>
          <a:lstStyle/>
          <a:p>
            <a:pPr algn="ctr"/>
            <a:r>
              <a:rPr sz="2800" b="1">
                <a:solidFill>
                  <a:srgbClr val="FFFFFF"/>
                </a:solidFill>
                <a:latin typeface="Calibri"/>
              </a:rPr>
              <a:t>&gt;0.75</a:t>
            </a:r>
          </a:p>
        </p:txBody>
      </p:sp>
      <p:sp>
        <p:nvSpPr>
          <p:cNvPr id="108" name="TextBox 107"/>
          <p:cNvSpPr txBox="1"/>
          <p:nvPr/>
        </p:nvSpPr>
        <p:spPr>
          <a:xfrm>
            <a:off x="6309360" y="1719072"/>
            <a:ext cx="1920240" cy="594360"/>
          </a:xfrm>
          <a:prstGeom prst="rect">
            <a:avLst/>
          </a:prstGeom>
          <a:noFill/>
        </p:spPr>
        <p:txBody>
          <a:bodyPr wrap="square">
            <a:spAutoFit/>
          </a:bodyPr>
          <a:lstStyle/>
          <a:p>
            <a:pPr algn="ctr"/>
            <a:r>
              <a:rPr sz="950" b="0">
                <a:solidFill>
                  <a:srgbClr val="FFFFFF"/>
                </a:solidFill>
                <a:latin typeface="Calibri"/>
              </a:rPr>
              <a:t>AUC-ROC model
performance
threshold</a:t>
            </a:r>
          </a:p>
        </p:txBody>
      </p:sp>
      <p:sp>
        <p:nvSpPr>
          <p:cNvPr id="109" name="Rectangle 108"/>
          <p:cNvSpPr/>
          <p:nvPr/>
        </p:nvSpPr>
        <p:spPr>
          <a:xfrm>
            <a:off x="274320" y="2560320"/>
            <a:ext cx="3886200" cy="384048"/>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365760" y="2624328"/>
            <a:ext cx="3703320" cy="274320"/>
          </a:xfrm>
          <a:prstGeom prst="rect">
            <a:avLst/>
          </a:prstGeom>
          <a:noFill/>
        </p:spPr>
        <p:txBody>
          <a:bodyPr wrap="square">
            <a:spAutoFit/>
          </a:bodyPr>
          <a:lstStyle/>
          <a:p>
            <a:pPr algn="l"/>
            <a:r>
              <a:rPr sz="1300" b="1">
                <a:solidFill>
                  <a:srgbClr val="FFFFFF"/>
                </a:solidFill>
                <a:latin typeface="Calibri"/>
              </a:rPr>
              <a:t>📊  BUSINESS KPIs</a:t>
            </a:r>
          </a:p>
        </p:txBody>
      </p:sp>
      <p:sp>
        <p:nvSpPr>
          <p:cNvPr id="111" name="Rectangle 110"/>
          <p:cNvSpPr/>
          <p:nvPr/>
        </p:nvSpPr>
        <p:spPr>
          <a:xfrm>
            <a:off x="274320" y="2944368"/>
            <a:ext cx="3886200" cy="1719072"/>
          </a:xfrm>
          <a:prstGeom prst="rect">
            <a:avLst/>
          </a:prstGeom>
          <a:solidFill>
            <a:srgbClr val="F0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111"/>
          <p:cNvSpPr txBox="1"/>
          <p:nvPr/>
        </p:nvSpPr>
        <p:spPr>
          <a:xfrm>
            <a:off x="411480" y="3017520"/>
            <a:ext cx="3611880" cy="292608"/>
          </a:xfrm>
          <a:prstGeom prst="rect">
            <a:avLst/>
          </a:prstGeom>
          <a:noFill/>
        </p:spPr>
        <p:txBody>
          <a:bodyPr wrap="square">
            <a:spAutoFit/>
          </a:bodyPr>
          <a:lstStyle/>
          <a:p>
            <a:pPr algn="l"/>
            <a:r>
              <a:rPr sz="1050" b="0">
                <a:solidFill>
                  <a:srgbClr val="1A1A2E"/>
                </a:solidFill>
                <a:latin typeface="Calibri"/>
              </a:rPr>
              <a:t>✓  10% reduction in 30-day delinquency (pilot target)</a:t>
            </a:r>
          </a:p>
        </p:txBody>
      </p:sp>
      <p:sp>
        <p:nvSpPr>
          <p:cNvPr id="113" name="TextBox 112"/>
          <p:cNvSpPr txBox="1"/>
          <p:nvPr/>
        </p:nvSpPr>
        <p:spPr>
          <a:xfrm>
            <a:off x="411480" y="3337560"/>
            <a:ext cx="3611880" cy="292608"/>
          </a:xfrm>
          <a:prstGeom prst="rect">
            <a:avLst/>
          </a:prstGeom>
          <a:noFill/>
        </p:spPr>
        <p:txBody>
          <a:bodyPr wrap="square">
            <a:spAutoFit/>
          </a:bodyPr>
          <a:lstStyle/>
          <a:p>
            <a:pPr algn="l"/>
            <a:r>
              <a:rPr sz="1050" b="0">
                <a:solidFill>
                  <a:srgbClr val="1A1A2E"/>
                </a:solidFill>
                <a:latin typeface="Calibri"/>
              </a:rPr>
              <a:t>✓  Collections cost reduced via precision outreach</a:t>
            </a:r>
          </a:p>
        </p:txBody>
      </p:sp>
      <p:sp>
        <p:nvSpPr>
          <p:cNvPr id="114" name="TextBox 113"/>
          <p:cNvSpPr txBox="1"/>
          <p:nvPr/>
        </p:nvSpPr>
        <p:spPr>
          <a:xfrm>
            <a:off x="411480" y="3657600"/>
            <a:ext cx="3611880" cy="292608"/>
          </a:xfrm>
          <a:prstGeom prst="rect">
            <a:avLst/>
          </a:prstGeom>
          <a:noFill/>
        </p:spPr>
        <p:txBody>
          <a:bodyPr wrap="square">
            <a:spAutoFit/>
          </a:bodyPr>
          <a:lstStyle/>
          <a:p>
            <a:pPr algn="l"/>
            <a:r>
              <a:rPr sz="1050" b="0">
                <a:solidFill>
                  <a:srgbClr val="1A1A2E"/>
                </a:solidFill>
                <a:latin typeface="Calibri"/>
              </a:rPr>
              <a:t>✓  Agent efficiency improved — focus on highest-risk cases</a:t>
            </a:r>
          </a:p>
        </p:txBody>
      </p:sp>
      <p:sp>
        <p:nvSpPr>
          <p:cNvPr id="115" name="TextBox 114"/>
          <p:cNvSpPr txBox="1"/>
          <p:nvPr/>
        </p:nvSpPr>
        <p:spPr>
          <a:xfrm>
            <a:off x="411480" y="3977640"/>
            <a:ext cx="3611880" cy="292608"/>
          </a:xfrm>
          <a:prstGeom prst="rect">
            <a:avLst/>
          </a:prstGeom>
          <a:noFill/>
        </p:spPr>
        <p:txBody>
          <a:bodyPr wrap="square">
            <a:spAutoFit/>
          </a:bodyPr>
          <a:lstStyle/>
          <a:p>
            <a:pPr algn="l"/>
            <a:r>
              <a:rPr sz="1050" b="0">
                <a:solidFill>
                  <a:srgbClr val="1A1A2E"/>
                </a:solidFill>
                <a:latin typeface="Calibri"/>
              </a:rPr>
              <a:t>✓  Model accuracy: AUC-ROC &gt; 0.75, F1 &gt; 0.70</a:t>
            </a:r>
          </a:p>
        </p:txBody>
      </p:sp>
      <p:sp>
        <p:nvSpPr>
          <p:cNvPr id="116" name="TextBox 115"/>
          <p:cNvSpPr txBox="1"/>
          <p:nvPr/>
        </p:nvSpPr>
        <p:spPr>
          <a:xfrm>
            <a:off x="411480" y="4297680"/>
            <a:ext cx="3611880" cy="292608"/>
          </a:xfrm>
          <a:prstGeom prst="rect">
            <a:avLst/>
          </a:prstGeom>
          <a:noFill/>
        </p:spPr>
        <p:txBody>
          <a:bodyPr wrap="square">
            <a:spAutoFit/>
          </a:bodyPr>
          <a:lstStyle/>
          <a:p>
            <a:pPr algn="l"/>
            <a:r>
              <a:rPr sz="1050" b="0">
                <a:solidFill>
                  <a:srgbClr val="1A1A2E"/>
                </a:solidFill>
                <a:latin typeface="Calibri"/>
              </a:rPr>
              <a:t>✓  Scalable to full 500+ customer base post-pilot</a:t>
            </a:r>
          </a:p>
        </p:txBody>
      </p:sp>
      <p:sp>
        <p:nvSpPr>
          <p:cNvPr id="117" name="Rectangle 116"/>
          <p:cNvSpPr/>
          <p:nvPr/>
        </p:nvSpPr>
        <p:spPr>
          <a:xfrm>
            <a:off x="4343400" y="2560320"/>
            <a:ext cx="3886200" cy="384048"/>
          </a:xfrm>
          <a:prstGeom prst="rect">
            <a:avLst/>
          </a:prstGeom>
          <a:solidFill>
            <a:srgbClr val="028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TextBox 117"/>
          <p:cNvSpPr txBox="1"/>
          <p:nvPr/>
        </p:nvSpPr>
        <p:spPr>
          <a:xfrm>
            <a:off x="4434840" y="2624328"/>
            <a:ext cx="3703320" cy="274320"/>
          </a:xfrm>
          <a:prstGeom prst="rect">
            <a:avLst/>
          </a:prstGeom>
          <a:noFill/>
        </p:spPr>
        <p:txBody>
          <a:bodyPr wrap="square">
            <a:spAutoFit/>
          </a:bodyPr>
          <a:lstStyle/>
          <a:p>
            <a:pPr algn="l"/>
            <a:r>
              <a:rPr sz="1300" b="1">
                <a:solidFill>
                  <a:srgbClr val="FFFFFF"/>
                </a:solidFill>
                <a:latin typeface="Calibri"/>
              </a:rPr>
              <a:t>🌟  CUSTOMER OUTCOMES</a:t>
            </a:r>
          </a:p>
        </p:txBody>
      </p:sp>
      <p:sp>
        <p:nvSpPr>
          <p:cNvPr id="119" name="Rectangle 118"/>
          <p:cNvSpPr/>
          <p:nvPr/>
        </p:nvSpPr>
        <p:spPr>
          <a:xfrm>
            <a:off x="4343400" y="2944368"/>
            <a:ext cx="3886200" cy="1719072"/>
          </a:xfrm>
          <a:prstGeom prst="rect">
            <a:avLst/>
          </a:prstGeom>
          <a:solidFill>
            <a:srgbClr val="F0FB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TextBox 119"/>
          <p:cNvSpPr txBox="1"/>
          <p:nvPr/>
        </p:nvSpPr>
        <p:spPr>
          <a:xfrm>
            <a:off x="4480560" y="3017520"/>
            <a:ext cx="3611880" cy="292608"/>
          </a:xfrm>
          <a:prstGeom prst="rect">
            <a:avLst/>
          </a:prstGeom>
          <a:noFill/>
        </p:spPr>
        <p:txBody>
          <a:bodyPr wrap="square">
            <a:spAutoFit/>
          </a:bodyPr>
          <a:lstStyle/>
          <a:p>
            <a:pPr algn="l"/>
            <a:r>
              <a:rPr sz="1050" b="0">
                <a:solidFill>
                  <a:srgbClr val="1A1A2E"/>
                </a:solidFill>
                <a:latin typeface="Calibri"/>
              </a:rPr>
              <a:t>✓  Fair, behavior-based risk assessment (not demographic)</a:t>
            </a:r>
          </a:p>
        </p:txBody>
      </p:sp>
      <p:sp>
        <p:nvSpPr>
          <p:cNvPr id="121" name="TextBox 120"/>
          <p:cNvSpPr txBox="1"/>
          <p:nvPr/>
        </p:nvSpPr>
        <p:spPr>
          <a:xfrm>
            <a:off x="4480560" y="3337560"/>
            <a:ext cx="3611880" cy="292608"/>
          </a:xfrm>
          <a:prstGeom prst="rect">
            <a:avLst/>
          </a:prstGeom>
          <a:noFill/>
        </p:spPr>
        <p:txBody>
          <a:bodyPr wrap="square">
            <a:spAutoFit/>
          </a:bodyPr>
          <a:lstStyle/>
          <a:p>
            <a:pPr algn="l"/>
            <a:r>
              <a:rPr sz="1050" b="0">
                <a:solidFill>
                  <a:srgbClr val="1A1A2E"/>
                </a:solidFill>
                <a:latin typeface="Calibri"/>
              </a:rPr>
              <a:t>✓  Timely proactive outreach before 30-day threshold</a:t>
            </a:r>
          </a:p>
        </p:txBody>
      </p:sp>
      <p:sp>
        <p:nvSpPr>
          <p:cNvPr id="122" name="TextBox 121"/>
          <p:cNvSpPr txBox="1"/>
          <p:nvPr/>
        </p:nvSpPr>
        <p:spPr>
          <a:xfrm>
            <a:off x="4480560" y="3657600"/>
            <a:ext cx="3611880" cy="292608"/>
          </a:xfrm>
          <a:prstGeom prst="rect">
            <a:avLst/>
          </a:prstGeom>
          <a:noFill/>
        </p:spPr>
        <p:txBody>
          <a:bodyPr wrap="square">
            <a:spAutoFit/>
          </a:bodyPr>
          <a:lstStyle/>
          <a:p>
            <a:pPr algn="l"/>
            <a:r>
              <a:rPr sz="1050" b="0">
                <a:solidFill>
                  <a:srgbClr val="1A1A2E"/>
                </a:solidFill>
                <a:latin typeface="Calibri"/>
              </a:rPr>
              <a:t>✓  Personalized intervention matched to risk level</a:t>
            </a:r>
          </a:p>
        </p:txBody>
      </p:sp>
      <p:sp>
        <p:nvSpPr>
          <p:cNvPr id="123" name="TextBox 122"/>
          <p:cNvSpPr txBox="1"/>
          <p:nvPr/>
        </p:nvSpPr>
        <p:spPr>
          <a:xfrm>
            <a:off x="4480560" y="3977640"/>
            <a:ext cx="3611880" cy="292608"/>
          </a:xfrm>
          <a:prstGeom prst="rect">
            <a:avLst/>
          </a:prstGeom>
          <a:noFill/>
        </p:spPr>
        <p:txBody>
          <a:bodyPr wrap="square">
            <a:spAutoFit/>
          </a:bodyPr>
          <a:lstStyle/>
          <a:p>
            <a:pPr algn="l"/>
            <a:r>
              <a:rPr sz="1050" b="0">
                <a:solidFill>
                  <a:srgbClr val="1A1A2E"/>
                </a:solidFill>
                <a:latin typeface="Calibri"/>
              </a:rPr>
              <a:t>✓  Explainable decisions — customers understand why</a:t>
            </a:r>
          </a:p>
        </p:txBody>
      </p:sp>
      <p:sp>
        <p:nvSpPr>
          <p:cNvPr id="124" name="TextBox 123"/>
          <p:cNvSpPr txBox="1"/>
          <p:nvPr/>
        </p:nvSpPr>
        <p:spPr>
          <a:xfrm>
            <a:off x="4480560" y="4297680"/>
            <a:ext cx="3611880" cy="292608"/>
          </a:xfrm>
          <a:prstGeom prst="rect">
            <a:avLst/>
          </a:prstGeom>
          <a:noFill/>
        </p:spPr>
        <p:txBody>
          <a:bodyPr wrap="square">
            <a:spAutoFit/>
          </a:bodyPr>
          <a:lstStyle/>
          <a:p>
            <a:pPr algn="l"/>
            <a:r>
              <a:rPr sz="1050" b="0">
                <a:solidFill>
                  <a:srgbClr val="1A1A2E"/>
                </a:solidFill>
                <a:latin typeface="Calibri"/>
              </a:rPr>
              <a:t>✓  Reduced harassment of low-risk customers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6C1373-ECCB-8893-C88B-952E49559659}"/>
              </a:ext>
            </a:extLst>
          </p:cNvPr>
          <p:cNvSpPr>
            <a:spLocks noGrp="1"/>
          </p:cNvSpPr>
          <p:nvPr>
            <p:ph type="title"/>
          </p:nvPr>
        </p:nvSpPr>
        <p:spPr/>
        <p:txBody>
          <a:bodyPr/>
          <a:lstStyle/>
          <a:p>
            <a:pPr algn="l"/>
            <a:r>
              <a:rPr b="1" sz="3000">
                <a:solidFill>
                  <a:srgbClr val="FFFFFF"/>
                </a:solidFill>
                <a:latin typeface="Calibri"/>
              </a:rPr>
              <a:t>Summary &amp; Next Steps</a:t>
            </a:r>
          </a:p>
        </p:txBody>
      </p:sp>
      <p:sp>
        <p:nvSpPr>
          <p:cNvPr id="3" name="Text Placeholder 2">
            <a:extLst>
              <a:ext uri="{FF2B5EF4-FFF2-40B4-BE49-F238E27FC236}">
                <a16:creationId xmlns:a16="http://schemas.microsoft.com/office/drawing/2014/main" id="{C6259607-54F3-CE30-20BB-21D4536BE7C6}"/>
              </a:ext>
            </a:extLst>
          </p:cNvPr>
          <p:cNvSpPr>
            <a:spLocks noGrp="1"/>
          </p:cNvSpPr>
          <p:nvPr>
            <p:ph type="body" idx="1"/>
          </p:nvPr>
        </p:nvSpPr>
        <p:spPr/>
        <p:txBody>
          <a:bodyPr/>
          <a:lstStyle/>
          <a:p>
            <a:endParaRPr lang="en-US" dirty="0"/>
          </a:p>
        </p:txBody>
      </p:sp>
      <p:sp>
        <p:nvSpPr>
          <p:cNvPr id="4" name="Rectangle 3"/>
          <p:cNvSpPr/>
          <p:nvPr/>
        </p:nvSpPr>
        <p:spPr>
          <a:xfrm>
            <a:off x="320040" y="1097280"/>
            <a:ext cx="8503920" cy="1234440"/>
          </a:xfrm>
          <a:prstGeom prst="rect">
            <a:avLst/>
          </a:prstGeom>
          <a:solidFill>
            <a:srgbClr val="2A357A"/>
          </a:solidFill>
          <a:ln w="12700">
            <a:solidFill>
              <a:srgbClr val="02809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170432"/>
            <a:ext cx="8229600" cy="1005840"/>
          </a:xfrm>
          <a:prstGeom prst="rect">
            <a:avLst/>
          </a:prstGeom>
          <a:noFill/>
        </p:spPr>
        <p:txBody>
          <a:bodyPr wrap="square">
            <a:spAutoFit/>
          </a:bodyPr>
          <a:lstStyle/>
          <a:p>
            <a:pPr algn="l"/>
            <a:r>
              <a:rPr sz="1200" b="0">
                <a:solidFill>
                  <a:srgbClr val="CADCFC"/>
                </a:solidFill>
                <a:latin typeface="Calibri"/>
              </a:rPr>
              <a:t>Geldium's AI-powered collections system combines a Random Forest predictive model, targeted intervention strategies, and responsible AI guardrails to reduce delinquency by 10% in a 6-week pilot — while ensuring fairness, transparency, and regulatory compliance.</a:t>
            </a:r>
          </a:p>
        </p:txBody>
      </p:sp>
      <p:sp>
        <p:nvSpPr>
          <p:cNvPr id="6" name="Rectangle 5"/>
          <p:cNvSpPr/>
          <p:nvPr/>
        </p:nvSpPr>
        <p:spPr>
          <a:xfrm>
            <a:off x="320040" y="2514600"/>
            <a:ext cx="2651760" cy="457200"/>
          </a:xfrm>
          <a:prstGeom prst="rect">
            <a:avLst/>
          </a:prstGeom>
          <a:solidFill>
            <a:srgbClr val="028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20040" y="2560320"/>
            <a:ext cx="2651760" cy="365760"/>
          </a:xfrm>
          <a:prstGeom prst="rect">
            <a:avLst/>
          </a:prstGeom>
          <a:noFill/>
        </p:spPr>
        <p:txBody>
          <a:bodyPr wrap="square">
            <a:spAutoFit/>
          </a:bodyPr>
          <a:lstStyle/>
          <a:p>
            <a:pPr algn="ctr"/>
            <a:r>
              <a:rPr sz="1200" b="1">
                <a:solidFill>
                  <a:srgbClr val="FFFFFF"/>
                </a:solidFill>
                <a:latin typeface="Calibri"/>
              </a:rPr>
              <a:t>PHASE 1
Weeks 1–2</a:t>
            </a:r>
          </a:p>
        </p:txBody>
      </p:sp>
      <p:sp>
        <p:nvSpPr>
          <p:cNvPr id="8" name="Rectangle 7"/>
          <p:cNvSpPr/>
          <p:nvPr/>
        </p:nvSpPr>
        <p:spPr>
          <a:xfrm>
            <a:off x="320040" y="2971800"/>
            <a:ext cx="2651760" cy="1874519"/>
          </a:xfrm>
          <a:prstGeom prst="rect">
            <a:avLst/>
          </a:prstGeom>
          <a:solidFill>
            <a:srgbClr val="2A35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29768" y="3063240"/>
            <a:ext cx="2468880" cy="530352"/>
          </a:xfrm>
          <a:prstGeom prst="rect">
            <a:avLst/>
          </a:prstGeom>
          <a:noFill/>
        </p:spPr>
        <p:txBody>
          <a:bodyPr wrap="square">
            <a:spAutoFit/>
          </a:bodyPr>
          <a:lstStyle/>
          <a:p>
            <a:pPr algn="l"/>
            <a:r>
              <a:rPr sz="1050" b="0">
                <a:solidFill>
                  <a:srgbClr val="FFFFFF"/>
                </a:solidFill>
                <a:latin typeface="Calibri"/>
              </a:rPr>
              <a:t>✓ Finalize data cleaning
  (standardize Employment_Status)</a:t>
            </a:r>
          </a:p>
        </p:txBody>
      </p:sp>
      <p:sp>
        <p:nvSpPr>
          <p:cNvPr id="10" name="TextBox 9"/>
          <p:cNvSpPr txBox="1"/>
          <p:nvPr/>
        </p:nvSpPr>
        <p:spPr>
          <a:xfrm>
            <a:off x="429768" y="3657600"/>
            <a:ext cx="2468880" cy="530352"/>
          </a:xfrm>
          <a:prstGeom prst="rect">
            <a:avLst/>
          </a:prstGeom>
          <a:noFill/>
        </p:spPr>
        <p:txBody>
          <a:bodyPr wrap="square">
            <a:spAutoFit/>
          </a:bodyPr>
          <a:lstStyle/>
          <a:p>
            <a:pPr algn="l"/>
            <a:r>
              <a:rPr sz="1050" b="0">
                <a:solidFill>
                  <a:srgbClr val="FFFFFF"/>
                </a:solidFill>
                <a:latin typeface="Calibri"/>
              </a:rPr>
              <a:t>✓ Deploy Random Forest model
  in staging environment</a:t>
            </a:r>
          </a:p>
        </p:txBody>
      </p:sp>
      <p:sp>
        <p:nvSpPr>
          <p:cNvPr id="11" name="TextBox 10"/>
          <p:cNvSpPr txBox="1"/>
          <p:nvPr/>
        </p:nvSpPr>
        <p:spPr>
          <a:xfrm>
            <a:off x="429768" y="4251960"/>
            <a:ext cx="2468880" cy="530352"/>
          </a:xfrm>
          <a:prstGeom prst="rect">
            <a:avLst/>
          </a:prstGeom>
          <a:noFill/>
        </p:spPr>
        <p:txBody>
          <a:bodyPr wrap="square">
            <a:spAutoFit/>
          </a:bodyPr>
          <a:lstStyle/>
          <a:p>
            <a:pPr algn="l"/>
            <a:r>
              <a:rPr sz="1050" b="0">
                <a:solidFill>
                  <a:srgbClr val="FFFFFF"/>
                </a:solidFill>
                <a:latin typeface="Calibri"/>
              </a:rPr>
              <a:t>✓ Set up monitoring dashboard</a:t>
            </a:r>
          </a:p>
        </p:txBody>
      </p:sp>
      <p:sp>
        <p:nvSpPr>
          <p:cNvPr id="12" name="Rectangle 11"/>
          <p:cNvSpPr/>
          <p:nvPr/>
        </p:nvSpPr>
        <p:spPr>
          <a:xfrm>
            <a:off x="3108960" y="2514600"/>
            <a:ext cx="2651760" cy="457200"/>
          </a:xfrm>
          <a:prstGeom prst="rect">
            <a:avLst/>
          </a:prstGeom>
          <a:solidFill>
            <a:srgbClr val="028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108960" y="2560320"/>
            <a:ext cx="2651760" cy="365760"/>
          </a:xfrm>
          <a:prstGeom prst="rect">
            <a:avLst/>
          </a:prstGeom>
          <a:noFill/>
        </p:spPr>
        <p:txBody>
          <a:bodyPr wrap="square">
            <a:spAutoFit/>
          </a:bodyPr>
          <a:lstStyle/>
          <a:p>
            <a:pPr algn="ctr"/>
            <a:r>
              <a:rPr sz="1200" b="1">
                <a:solidFill>
                  <a:srgbClr val="FFFFFF"/>
                </a:solidFill>
                <a:latin typeface="Calibri"/>
              </a:rPr>
              <a:t>PHASE 2
Weeks 3–6</a:t>
            </a:r>
          </a:p>
        </p:txBody>
      </p:sp>
      <p:sp>
        <p:nvSpPr>
          <p:cNvPr id="14" name="Rectangle 13"/>
          <p:cNvSpPr/>
          <p:nvPr/>
        </p:nvSpPr>
        <p:spPr>
          <a:xfrm>
            <a:off x="3108960" y="2971800"/>
            <a:ext cx="2651760" cy="1874519"/>
          </a:xfrm>
          <a:prstGeom prst="rect">
            <a:avLst/>
          </a:prstGeom>
          <a:solidFill>
            <a:srgbClr val="2A35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218688" y="3063240"/>
            <a:ext cx="2468880" cy="530352"/>
          </a:xfrm>
          <a:prstGeom prst="rect">
            <a:avLst/>
          </a:prstGeom>
          <a:noFill/>
        </p:spPr>
        <p:txBody>
          <a:bodyPr wrap="square">
            <a:spAutoFit/>
          </a:bodyPr>
          <a:lstStyle/>
          <a:p>
            <a:pPr algn="l"/>
            <a:r>
              <a:rPr sz="1050" b="0">
                <a:solidFill>
                  <a:srgbClr val="FFFFFF"/>
                </a:solidFill>
                <a:latin typeface="Calibri"/>
              </a:rPr>
              <a:t>✓ Launch SMS pilot for top
  20% high-risk customers</a:t>
            </a:r>
          </a:p>
        </p:txBody>
      </p:sp>
      <p:sp>
        <p:nvSpPr>
          <p:cNvPr id="16" name="TextBox 15"/>
          <p:cNvSpPr txBox="1"/>
          <p:nvPr/>
        </p:nvSpPr>
        <p:spPr>
          <a:xfrm>
            <a:off x="3218688" y="3657600"/>
            <a:ext cx="2468880" cy="530352"/>
          </a:xfrm>
          <a:prstGeom prst="rect">
            <a:avLst/>
          </a:prstGeom>
          <a:noFill/>
        </p:spPr>
        <p:txBody>
          <a:bodyPr wrap="square">
            <a:spAutoFit/>
          </a:bodyPr>
          <a:lstStyle/>
          <a:p>
            <a:pPr algn="l"/>
            <a:r>
              <a:rPr sz="1050" b="0">
                <a:solidFill>
                  <a:srgbClr val="FFFFFF"/>
                </a:solidFill>
                <a:latin typeface="Calibri"/>
              </a:rPr>
              <a:t>✓ Mid-point review at Week 3</a:t>
            </a:r>
          </a:p>
        </p:txBody>
      </p:sp>
      <p:sp>
        <p:nvSpPr>
          <p:cNvPr id="17" name="TextBox 16"/>
          <p:cNvSpPr txBox="1"/>
          <p:nvPr/>
        </p:nvSpPr>
        <p:spPr>
          <a:xfrm>
            <a:off x="3218688" y="4251960"/>
            <a:ext cx="2468880" cy="530352"/>
          </a:xfrm>
          <a:prstGeom prst="rect">
            <a:avLst/>
          </a:prstGeom>
          <a:noFill/>
        </p:spPr>
        <p:txBody>
          <a:bodyPr wrap="square">
            <a:spAutoFit/>
          </a:bodyPr>
          <a:lstStyle/>
          <a:p>
            <a:pPr algn="l"/>
            <a:r>
              <a:rPr sz="1050" b="0">
                <a:solidFill>
                  <a:srgbClr val="FFFFFF"/>
                </a:solidFill>
                <a:latin typeface="Calibri"/>
              </a:rPr>
              <a:t>✓ Track delinquency reduction
  vs. 10% target</a:t>
            </a:r>
          </a:p>
        </p:txBody>
      </p:sp>
      <p:sp>
        <p:nvSpPr>
          <p:cNvPr id="18" name="Rectangle 17"/>
          <p:cNvSpPr/>
          <p:nvPr/>
        </p:nvSpPr>
        <p:spPr>
          <a:xfrm>
            <a:off x="5897880" y="2514600"/>
            <a:ext cx="2651760" cy="457200"/>
          </a:xfrm>
          <a:prstGeom prst="rect">
            <a:avLst/>
          </a:prstGeom>
          <a:solidFill>
            <a:srgbClr val="028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897880" y="2560320"/>
            <a:ext cx="2651760" cy="365760"/>
          </a:xfrm>
          <a:prstGeom prst="rect">
            <a:avLst/>
          </a:prstGeom>
          <a:noFill/>
        </p:spPr>
        <p:txBody>
          <a:bodyPr wrap="square">
            <a:spAutoFit/>
          </a:bodyPr>
          <a:lstStyle/>
          <a:p>
            <a:pPr algn="ctr"/>
            <a:r>
              <a:rPr sz="1200" b="1">
                <a:solidFill>
                  <a:srgbClr val="FFFFFF"/>
                </a:solidFill>
                <a:latin typeface="Calibri"/>
              </a:rPr>
              <a:t>PHASE 3
Week 7+</a:t>
            </a:r>
          </a:p>
        </p:txBody>
      </p:sp>
      <p:sp>
        <p:nvSpPr>
          <p:cNvPr id="20" name="Rectangle 19"/>
          <p:cNvSpPr/>
          <p:nvPr/>
        </p:nvSpPr>
        <p:spPr>
          <a:xfrm>
            <a:off x="5897880" y="2971800"/>
            <a:ext cx="2651760" cy="1874519"/>
          </a:xfrm>
          <a:prstGeom prst="rect">
            <a:avLst/>
          </a:prstGeom>
          <a:solidFill>
            <a:srgbClr val="2A35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07608" y="3063240"/>
            <a:ext cx="2468880" cy="530352"/>
          </a:xfrm>
          <a:prstGeom prst="rect">
            <a:avLst/>
          </a:prstGeom>
          <a:noFill/>
        </p:spPr>
        <p:txBody>
          <a:bodyPr wrap="square">
            <a:spAutoFit/>
          </a:bodyPr>
          <a:lstStyle/>
          <a:p>
            <a:pPr algn="l"/>
            <a:r>
              <a:rPr sz="1050" b="0">
                <a:solidFill>
                  <a:srgbClr val="FFFFFF"/>
                </a:solidFill>
                <a:latin typeface="Calibri"/>
              </a:rPr>
              <a:t>✓ Full deployment if pilot
  meets KPI targets</a:t>
            </a:r>
          </a:p>
        </p:txBody>
      </p:sp>
      <p:sp>
        <p:nvSpPr>
          <p:cNvPr id="22" name="TextBox 21"/>
          <p:cNvSpPr txBox="1"/>
          <p:nvPr/>
        </p:nvSpPr>
        <p:spPr>
          <a:xfrm>
            <a:off x="6007608" y="3657600"/>
            <a:ext cx="2468880" cy="530352"/>
          </a:xfrm>
          <a:prstGeom prst="rect">
            <a:avLst/>
          </a:prstGeom>
          <a:noFill/>
        </p:spPr>
        <p:txBody>
          <a:bodyPr wrap="square">
            <a:spAutoFit/>
          </a:bodyPr>
          <a:lstStyle/>
          <a:p>
            <a:pPr algn="l"/>
            <a:r>
              <a:rPr sz="1050" b="0">
                <a:solidFill>
                  <a:srgbClr val="FFFFFF"/>
                </a:solidFill>
                <a:latin typeface="Calibri"/>
              </a:rPr>
              <a:t>✓ Monthly model retraining</a:t>
            </a:r>
          </a:p>
        </p:txBody>
      </p:sp>
      <p:sp>
        <p:nvSpPr>
          <p:cNvPr id="23" name="TextBox 22"/>
          <p:cNvSpPr txBox="1"/>
          <p:nvPr/>
        </p:nvSpPr>
        <p:spPr>
          <a:xfrm>
            <a:off x="6007608" y="4251960"/>
            <a:ext cx="2468880" cy="530352"/>
          </a:xfrm>
          <a:prstGeom prst="rect">
            <a:avLst/>
          </a:prstGeom>
          <a:noFill/>
        </p:spPr>
        <p:txBody>
          <a:bodyPr wrap="square">
            <a:spAutoFit/>
          </a:bodyPr>
          <a:lstStyle/>
          <a:p>
            <a:pPr algn="l"/>
            <a:r>
              <a:rPr sz="1050" b="0">
                <a:solidFill>
                  <a:srgbClr val="FFFFFF"/>
                </a:solidFill>
                <a:latin typeface="Calibri"/>
              </a:rPr>
              <a:t>✓ Expand to all customer
  segments</a:t>
            </a:r>
          </a:p>
        </p:txBody>
      </p:sp>
      <p:sp>
        <p:nvSpPr>
          <p:cNvPr id="24" name="TextBox 23"/>
          <p:cNvSpPr txBox="1"/>
          <p:nvPr/>
        </p:nvSpPr>
        <p:spPr>
          <a:xfrm>
            <a:off x="274320" y="4663440"/>
            <a:ext cx="8595360" cy="320040"/>
          </a:xfrm>
          <a:prstGeom prst="rect">
            <a:avLst/>
          </a:prstGeom>
          <a:noFill/>
        </p:spPr>
        <p:txBody>
          <a:bodyPr wrap="square">
            <a:spAutoFit/>
          </a:bodyPr>
          <a:lstStyle/>
          <a:p>
            <a:pPr algn="ctr"/>
            <a:r>
              <a:rPr sz="1000" b="0">
                <a:solidFill>
                  <a:srgbClr val="CADCFC"/>
                </a:solidFill>
                <a:latin typeface="Calibri"/>
              </a:rPr>
              <a:t>Tata iQ  |  Geldium AI Collections System  |  Hadeel, AI Transformation Consultant</a:t>
            </a:r>
          </a:p>
        </p:txBody>
      </p:sp>
    </p:spTree>
    <p:extLst>
      <p:ext uri="{BB962C8B-B14F-4D97-AF65-F5344CB8AC3E}">
        <p14:creationId xmlns:p14="http://schemas.microsoft.com/office/powerpoint/2010/main" val="890219242"/>
      </p:ext>
    </p:extLst>
  </p:cSld>
  <p:clrMapOvr>
    <a:masterClrMapping/>
  </p:clrMapOvr>
</p:sld>
</file>

<file path=ppt/theme/theme1.xml><?xml version="1.0" encoding="utf-8"?>
<a:theme xmlns:a="http://schemas.openxmlformats.org/drawingml/2006/main" name="Marina">
  <a:themeElements>
    <a:clrScheme name="Marina">
      <a:dk1>
        <a:srgbClr val="FFFFFF"/>
      </a:dk1>
      <a:lt1>
        <a:srgbClr val="00517C"/>
      </a:lt1>
      <a:dk2>
        <a:srgbClr val="004065"/>
      </a:dk2>
      <a:lt2>
        <a:srgbClr val="CFD8DC"/>
      </a:lt2>
      <a:accent1>
        <a:srgbClr val="0277BD"/>
      </a:accent1>
      <a:accent2>
        <a:srgbClr val="558B2F"/>
      </a:accent2>
      <a:accent3>
        <a:srgbClr val="009688"/>
      </a:accent3>
      <a:accent4>
        <a:srgbClr val="039BE5"/>
      </a:accent4>
      <a:accent5>
        <a:srgbClr val="8BC34A"/>
      </a:accent5>
      <a:accent6>
        <a:srgbClr val="FFEB38"/>
      </a:accent6>
      <a:hlink>
        <a:srgbClr val="8BC34A"/>
      </a:hlink>
      <a:folHlink>
        <a:srgbClr val="8BC34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49</TotalTime>
  <Words>473</Words>
  <Application>Microsoft Macintosh PowerPoint</Application>
  <PresentationFormat>On-screen Show (16:9)</PresentationFormat>
  <Paragraphs>36</Paragraphs>
  <Slides>6</Slides>
  <Notes>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Roboto Slab</vt:lpstr>
      <vt:lpstr>Roboto</vt:lpstr>
      <vt:lpstr>Marina</vt:lpstr>
      <vt:lpstr>AI-Powered Collections Strategy</vt:lpstr>
      <vt:lpstr>How the System Works</vt:lpstr>
      <vt:lpstr>Role of Agentic AI</vt:lpstr>
      <vt:lpstr>Responsible AI Guardrails</vt:lpstr>
      <vt:lpstr>Expected Business Impact</vt:lpstr>
      <vt:lpstr>[Feel free to add more slides throughout]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Tran, Tammy</cp:lastModifiedBy>
  <cp:revision>2</cp:revision>
  <dcterms:modified xsi:type="dcterms:W3CDTF">2025-04-29T13:27:36Z</dcterms:modified>
</cp:coreProperties>
</file>